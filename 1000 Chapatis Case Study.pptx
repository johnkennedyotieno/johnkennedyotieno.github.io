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366760" y="237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366760" y="548640"/>
            <a:ext cx="640080" cy="0"/>
          </a:xfrm>
          <a:prstGeom prst="line">
            <a:avLst/>
          </a:prstGeom>
          <a:noFill/>
          <a:ln w="19050">
            <a:solidFill>
              <a:srgbClr val="CDA8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281160" y="2377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652760" y="237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31520"/>
            <a:ext cx="11094415" cy="0"/>
          </a:xfrm>
          <a:prstGeom prst="line">
            <a:avLst/>
          </a:prstGeom>
          <a:noFill/>
          <a:ln w="9525">
            <a:solidFill>
              <a:srgbClr val="2E4F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www.jktellsstories.africa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6002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STRATEGY  ·  CASE STUDY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6492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3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Chapatis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3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1,000 Smiles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CD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joint initiative to make every chapati count.”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48640" y="4251960"/>
            <a:ext cx="5806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C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6-week engagement for Chef Brian Abala’s birthday attempt to cook 1,000 chapatis solo in 15 hours — reframed, at our advice, into a community benefit event feeding hundreds in Ruai.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532120"/>
            <a:ext cx="2514600" cy="365760"/>
          </a:xfrm>
          <a:prstGeom prst="roundRect">
            <a:avLst>
              <a:gd name="adj" fmla="val 15000"/>
            </a:avLst>
          </a:prstGeom>
          <a:ln w="12700">
            <a:solidFill>
              <a:srgbClr val="CDA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532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Planning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191256" y="5532120"/>
            <a:ext cx="1929384" cy="365760"/>
          </a:xfrm>
          <a:prstGeom prst="roundRect">
            <a:avLst>
              <a:gd name="adj" fmla="val 15000"/>
            </a:avLst>
          </a:prstGeom>
          <a:ln w="12700">
            <a:solidFill>
              <a:srgbClr val="CDA8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91256" y="5532120"/>
            <a:ext cx="1929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Strategy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48656" y="5532120"/>
            <a:ext cx="1783080" cy="365760"/>
          </a:xfrm>
          <a:prstGeom prst="roundRect">
            <a:avLst>
              <a:gd name="adj" fmla="val 15000"/>
            </a:avLst>
          </a:prstGeom>
          <a:ln w="12700">
            <a:solidFill>
              <a:srgbClr val="CDA8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8656" y="55321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59752" y="5532120"/>
            <a:ext cx="2075688" cy="365760"/>
          </a:xfrm>
          <a:prstGeom prst="roundRect">
            <a:avLst>
              <a:gd name="adj" fmla="val 15000"/>
            </a:avLst>
          </a:prstGeom>
          <a:ln w="12700">
            <a:solidFill>
              <a:srgbClr val="CDA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9752" y="5532120"/>
            <a:ext cx="207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363456" y="5532120"/>
            <a:ext cx="1490472" cy="365760"/>
          </a:xfrm>
          <a:prstGeom prst="roundRect">
            <a:avLst>
              <a:gd name="adj" fmla="val 15000"/>
            </a:avLst>
          </a:prstGeom>
          <a:ln w="12700">
            <a:solidFill>
              <a:srgbClr val="CDA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63456" y="5532120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635240" y="1417320"/>
            <a:ext cx="3977640" cy="3977640"/>
          </a:xfrm>
          <a:prstGeom prst="rect">
            <a:avLst/>
          </a:prstGeom>
          <a:ln w="12700">
            <a:solidFill>
              <a:srgbClr val="CDA857"/>
            </a:solidFill>
            <a:prstDash val="solid"/>
          </a:ln>
        </p:spPr>
      </p:sp>
      <p:pic>
        <p:nvPicPr>
          <p:cNvPr id="25" name="Image 0" descr="/home/claude/assets/polari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508760"/>
            <a:ext cx="379476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366760" y="237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81160" y="2377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281160" y="548640"/>
            <a:ext cx="1097280" cy="0"/>
          </a:xfrm>
          <a:prstGeom prst="line">
            <a:avLst/>
          </a:prstGeom>
          <a:noFill/>
          <a:ln w="19050">
            <a:solidFill>
              <a:srgbClr val="CDA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0" y="237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31520"/>
            <a:ext cx="11094415" cy="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www.jktellsstories.africa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0352" y="1033272"/>
            <a:ext cx="3602736" cy="3602736"/>
          </a:xfrm>
          <a:prstGeom prst="rect">
            <a:avLst/>
          </a:prstGeom>
          <a:ln w="12700">
            <a:solidFill>
              <a:srgbClr val="CDA857"/>
            </a:solidFill>
            <a:prstDash val="solid"/>
          </a:ln>
        </p:spPr>
      </p:sp>
      <p:pic>
        <p:nvPicPr>
          <p:cNvPr id="11" name="Image 0" descr="/home/claude/assets/polaris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3566160" cy="35661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48640" y="4773168"/>
            <a:ext cx="1127760" cy="347472"/>
          </a:xfrm>
          <a:prstGeom prst="roundRect">
            <a:avLst>
              <a:gd name="adj" fmla="val 15789"/>
            </a:avLst>
          </a:prstGeom>
          <a:solidFill>
            <a:srgbClr val="1B3A1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4773168"/>
            <a:ext cx="112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767840" y="4773168"/>
            <a:ext cx="1127760" cy="347472"/>
          </a:xfrm>
          <a:prstGeom prst="roundRect">
            <a:avLst>
              <a:gd name="adj" fmla="val 15789"/>
            </a:avLst>
          </a:prstGeom>
          <a:solidFill>
            <a:srgbClr val="1B3A1E"/>
          </a:solidFill>
          <a:ln/>
        </p:spPr>
      </p:sp>
      <p:sp>
        <p:nvSpPr>
          <p:cNvPr id="15" name="Text 12"/>
          <p:cNvSpPr/>
          <p:nvPr/>
        </p:nvSpPr>
        <p:spPr>
          <a:xfrm>
            <a:off x="1767840" y="4773168"/>
            <a:ext cx="112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987040" y="4773168"/>
            <a:ext cx="1127760" cy="347472"/>
          </a:xfrm>
          <a:prstGeom prst="roundRect">
            <a:avLst>
              <a:gd name="adj" fmla="val 15789"/>
            </a:avLst>
          </a:prstGeom>
          <a:solidFill>
            <a:srgbClr val="1B3A1E"/>
          </a:solidFill>
          <a:ln/>
        </p:spPr>
      </p:sp>
      <p:sp>
        <p:nvSpPr>
          <p:cNvPr id="17" name="Text 14"/>
          <p:cNvSpPr/>
          <p:nvPr/>
        </p:nvSpPr>
        <p:spPr>
          <a:xfrm>
            <a:off x="2987040" y="4773168"/>
            <a:ext cx="112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48640" y="5212080"/>
            <a:ext cx="1714500" cy="347472"/>
          </a:xfrm>
          <a:prstGeom prst="roundRect">
            <a:avLst>
              <a:gd name="adj" fmla="val 15789"/>
            </a:avLst>
          </a:prstGeom>
          <a:solidFill>
            <a:srgbClr val="1B3A1E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5212080"/>
            <a:ext cx="1714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400300" y="5212080"/>
            <a:ext cx="1714500" cy="347472"/>
          </a:xfrm>
          <a:prstGeom prst="roundRect">
            <a:avLst>
              <a:gd name="adj" fmla="val 15789"/>
            </a:avLst>
          </a:prstGeom>
          <a:solidFill>
            <a:srgbClr val="1B3A1E"/>
          </a:solidFill>
          <a:ln/>
        </p:spPr>
      </p:sp>
      <p:sp>
        <p:nvSpPr>
          <p:cNvPr id="21" name="Text 18"/>
          <p:cNvSpPr/>
          <p:nvPr/>
        </p:nvSpPr>
        <p:spPr>
          <a:xfrm>
            <a:off x="2400300" y="5212080"/>
            <a:ext cx="17145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434840" y="1051560"/>
            <a:ext cx="7205472" cy="5349240"/>
          </a:xfrm>
          <a:prstGeom prst="rect">
            <a:avLst/>
          </a:prstGeom>
          <a:solidFill>
            <a:srgbClr val="FCFBF7"/>
          </a:solidFill>
          <a:ln w="12700">
            <a:solidFill>
              <a:srgbClr val="D8D2C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754880" y="1325880"/>
            <a:ext cx="6565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</a:t>
            </a:r>
            <a:pPr indent="0" marL="0">
              <a:buNone/>
            </a:pPr>
            <a:r>
              <a:rPr lang="en-US" sz="135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&amp; Brand Strategy.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4754880" y="1709928"/>
            <a:ext cx="6565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Planning &amp; Management, Brand Strategy, Content Production, Sponsorship Strategy, Grassroots Mobilization.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4754880" y="2423160"/>
            <a:ext cx="65653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4B5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his birthday, Chef Brian Abala wanted to attempt a Guinness World Record feat — cooking 1,000 chapatis by himself within 15 hours. Operating on a shoestring budget, he needed financing to underwrite the attempt and marketing that would make people feel safe attending and want to participate. He approached us for help achieving both.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4754880" y="3630168"/>
            <a:ext cx="6565392" cy="0"/>
          </a:xfrm>
          <a:prstGeom prst="line">
            <a:avLst/>
          </a:prstGeom>
          <a:noFill/>
          <a:ln w="15875">
            <a:solidFill>
              <a:srgbClr val="1B3A1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38313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Insight.</a:t>
            </a:r>
            <a:endParaRPr lang="en-US" sz="1900" dirty="0"/>
          </a:p>
        </p:txBody>
      </p:sp>
      <p:sp>
        <p:nvSpPr>
          <p:cNvPr id="28" name="Text 25"/>
          <p:cNvSpPr/>
          <p:nvPr/>
        </p:nvSpPr>
        <p:spPr>
          <a:xfrm>
            <a:off x="4754880" y="4251960"/>
            <a:ext cx="65653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6000"/>
              </a:lnSpc>
              <a:buNone/>
            </a:pPr>
            <a:r>
              <a:rPr lang="en-US" sz="1250" dirty="0">
                <a:solidFill>
                  <a:srgbClr val="4B5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initial plan was to sell the finished chapatis — his specialty at the restaurant where he works — to cover costs. We recognized that all of his goals, financing, turnout, and safety, required community buy-in to succeed, and a sale worked against that. The recommendation was a pivot: turn the record attempt into a community benefit event.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366760" y="237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81160" y="2377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281160" y="548640"/>
            <a:ext cx="1097280" cy="0"/>
          </a:xfrm>
          <a:prstGeom prst="line">
            <a:avLst/>
          </a:prstGeom>
          <a:noFill/>
          <a:ln w="19050">
            <a:solidFill>
              <a:srgbClr val="CDA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0" y="237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31520"/>
            <a:ext cx="11094415" cy="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www.jktellsstories.africa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  —  THE COMMUNITY PIVOT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5257800" cy="1828800"/>
          </a:xfrm>
          <a:prstGeom prst="rect">
            <a:avLst/>
          </a:prstGeom>
          <a:solidFill>
            <a:srgbClr val="FCFBF7"/>
          </a:solidFill>
          <a:ln w="12700">
            <a:solidFill>
              <a:srgbClr val="1B3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305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Reframe: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459736"/>
            <a:ext cx="480060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22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advised against selling the chapatis. Once cooked, they would go to children’s homes in the community instead, with the rest set aside for feeding street families and others in need — shifting the event from buying a chapati to funding a cause.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5257800" cy="1965960"/>
          </a:xfrm>
          <a:prstGeom prst="rect">
            <a:avLst/>
          </a:prstGeom>
          <a:solidFill>
            <a:srgbClr val="FCFBF7"/>
          </a:solidFill>
          <a:ln w="12700">
            <a:solidFill>
              <a:srgbClr val="1B3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4223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Sponsorship Architecture: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471416"/>
            <a:ext cx="4800600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22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fund a self-funded baseline budget of KES 100,000 and reach for a KES 250,000 production standard, we built a tiered sponsorship model and pitched a long-term branded content series to Grain Industries Limited (Ajab Flour), positioning the Challenge as a pilot episode.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5257800" cy="438912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1856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SPONSORSHIP TIERS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086600" y="2514600"/>
            <a:ext cx="0" cy="2249424"/>
          </a:xfrm>
          <a:prstGeom prst="line">
            <a:avLst/>
          </a:prstGeom>
          <a:noFill/>
          <a:ln w="12700">
            <a:solidFill>
              <a:srgbClr val="CDA857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775704" y="2203704"/>
            <a:ext cx="621792" cy="621792"/>
          </a:xfrm>
          <a:prstGeom prst="ellipse">
            <a:avLst/>
          </a:prstGeom>
          <a:solidFill>
            <a:srgbClr val="1B3A1E"/>
          </a:solidFill>
          <a:ln w="19050">
            <a:solidFill>
              <a:srgbClr val="CDA8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2203704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626096" y="2221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&amp; Shoutouts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26096" y="253288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20,000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75704" y="2953512"/>
            <a:ext cx="621792" cy="621792"/>
          </a:xfrm>
          <a:prstGeom prst="ellipse">
            <a:avLst/>
          </a:prstGeom>
          <a:solidFill>
            <a:srgbClr val="1B3A1E"/>
          </a:solidFill>
          <a:ln w="19050">
            <a:solidFill>
              <a:srgbClr val="CDA8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75704" y="29535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626096" y="297180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Booth &amp; Vending Sponsor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26096" y="32826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50,000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75704" y="3703320"/>
            <a:ext cx="621792" cy="621792"/>
          </a:xfrm>
          <a:prstGeom prst="ellipse">
            <a:avLst/>
          </a:prstGeom>
          <a:solidFill>
            <a:srgbClr val="1B3A1E"/>
          </a:solidFill>
          <a:ln w="19050">
            <a:solidFill>
              <a:srgbClr val="CDA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3703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26096" y="372160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Title Sponsor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626096" y="403250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250,000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75704" y="4453128"/>
            <a:ext cx="621792" cy="621792"/>
          </a:xfrm>
          <a:prstGeom prst="ellipse">
            <a:avLst/>
          </a:prstGeom>
          <a:solidFill>
            <a:srgbClr val="1B3A1E"/>
          </a:solidFill>
          <a:ln w="19050">
            <a:solidFill>
              <a:srgbClr val="CDA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75704" y="4453128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26096" y="44714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Series Pitch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626096" y="47823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7C9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“Ajab Brings Families Together”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536752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F3F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fund the event outright, and to open a long-term storytelling partnership beyond 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366760" y="237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81160" y="2377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281160" y="548640"/>
            <a:ext cx="1097280" cy="0"/>
          </a:xfrm>
          <a:prstGeom prst="line">
            <a:avLst/>
          </a:prstGeom>
          <a:noFill/>
          <a:ln w="19050">
            <a:solidFill>
              <a:srgbClr val="CDA8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652760" y="237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731520"/>
            <a:ext cx="11094415" cy="0"/>
          </a:xfrm>
          <a:prstGeom prst="line">
            <a:avLst/>
          </a:prstGeom>
          <a:noFill/>
          <a:ln w="9525">
            <a:solidFill>
              <a:srgbClr val="D8D2C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www.jktellsstories.africa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9144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Intervention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  —  EXECUTION &amp; MOBILIZATION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5257800" cy="1554480"/>
          </a:xfrm>
          <a:prstGeom prst="rect">
            <a:avLst/>
          </a:prstGeom>
          <a:solidFill>
            <a:srgbClr val="FCFBF7"/>
          </a:solidFill>
          <a:ln w="12700">
            <a:solidFill>
              <a:srgbClr val="1B3A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13055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Strategy: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459736"/>
            <a:ext cx="4800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22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Word-of-mouth and social content built around chapati culture itself — how people love theirs made, where they’ve had the best chapatis, how many they can eat, how to cook them — anchored throughout by the giving-back message.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257800" cy="2240280"/>
          </a:xfrm>
          <a:prstGeom prst="rect">
            <a:avLst/>
          </a:prstGeom>
          <a:solidFill>
            <a:srgbClr val="FCFBF7"/>
          </a:solidFill>
          <a:ln w="12700">
            <a:solidFill>
              <a:srgbClr val="1B3A1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6791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Grassroots Mobilization: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197096"/>
            <a:ext cx="4800600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30" dirty="0">
                <a:solidFill>
                  <a:srgbClr val="1226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corporate sponsorship unsuccessful, we activated local businesses and peer networks to cover the full operational budget in kind — venue, equipment, and ingredients — and recruited a volunteer team to run production and logistics.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400800" y="1600200"/>
            <a:ext cx="5257800" cy="201168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183794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DONORS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720840" y="2258568"/>
            <a:ext cx="1344168" cy="310896"/>
          </a:xfrm>
          <a:prstGeom prst="roundRect">
            <a:avLst>
              <a:gd name="adj" fmla="val 17647"/>
            </a:avLst>
          </a:prstGeom>
          <a:ln w="9525">
            <a:solidFill>
              <a:srgbClr val="CDA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25856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Donors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93024" y="2258568"/>
            <a:ext cx="987552" cy="310896"/>
          </a:xfrm>
          <a:prstGeom prst="roundRect">
            <a:avLst>
              <a:gd name="adj" fmla="val 17647"/>
            </a:avLst>
          </a:prstGeom>
          <a:ln w="9525">
            <a:solidFill>
              <a:srgbClr val="CDA85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2258568"/>
            <a:ext cx="987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20840" y="2761488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3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coalition of 82 local donors, coordinated through a WhatsApp group, funded all the flour, beans, chicken, onions, and tomatoes needed to feed hundreds.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0" y="3794760"/>
            <a:ext cx="5257800" cy="2011680"/>
          </a:xfrm>
          <a:prstGeom prst="rect">
            <a:avLst/>
          </a:prstGeom>
          <a:solidFill>
            <a:srgbClr val="1B3A1E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032504"/>
            <a:ext cx="4617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80" kern="0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CREW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720840" y="4453128"/>
            <a:ext cx="1225296" cy="310896"/>
          </a:xfrm>
          <a:prstGeom prst="roundRect">
            <a:avLst>
              <a:gd name="adj" fmla="val 17647"/>
            </a:avLst>
          </a:prstGeom>
          <a:ln w="9525">
            <a:solidFill>
              <a:srgbClr val="CDA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4531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17-Person Crew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074152" y="4453128"/>
            <a:ext cx="1225296" cy="310896"/>
          </a:xfrm>
          <a:prstGeom prst="roundRect">
            <a:avLst>
              <a:gd name="adj" fmla="val 17647"/>
            </a:avLst>
          </a:prstGeom>
          <a:ln w="9525">
            <a:solidFill>
              <a:srgbClr val="CDA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74152" y="4453128"/>
            <a:ext cx="12252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Micro-Influencers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20840" y="4956048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E3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Volunteers covered transport, crowd control, cleaning, running food, and photography; three local micro-influencers live-streamed the 15-hour attempt.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366760" y="237744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281160" y="23774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652760" y="237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652760" y="548640"/>
            <a:ext cx="868680" cy="0"/>
          </a:xfrm>
          <a:prstGeom prst="line">
            <a:avLst/>
          </a:prstGeom>
          <a:noFill/>
          <a:ln w="19050">
            <a:solidFill>
              <a:srgbClr val="CDA8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731520"/>
            <a:ext cx="11094415" cy="0"/>
          </a:xfrm>
          <a:prstGeom prst="line">
            <a:avLst/>
          </a:prstGeom>
          <a:noFill/>
          <a:ln w="9525">
            <a:solidFill>
              <a:srgbClr val="2E4F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473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www.jktellsstories.africa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430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D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 flipV="1">
            <a:off x="2743200" y="1481328"/>
            <a:ext cx="292608" cy="292608"/>
          </a:xfrm>
          <a:prstGeom prst="line">
            <a:avLst/>
          </a:prstGeom>
          <a:noFill/>
          <a:ln w="25400">
            <a:solidFill>
              <a:srgbClr val="CDA8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2926080" y="1371600"/>
            <a:ext cx="137160" cy="137160"/>
          </a:xfrm>
          <a:prstGeom prst="triangle">
            <a:avLst/>
          </a:prstGeom>
          <a:solidFill>
            <a:srgbClr val="CDA85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965960"/>
            <a:ext cx="5486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DCD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replaced a corporate sponsorship budget with grassroots mobilization outright — and still delivered well beyond a record attempt.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solidFill>
            <a:srgbClr val="2C5330"/>
          </a:solidFill>
          <a:ln w="12700">
            <a:solidFill>
              <a:srgbClr val="CDA8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30083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460+ people fed — 110 children across 2 children’s homes, plus 350+ unhoused persons.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solidFill>
            <a:srgbClr val="2C5330"/>
          </a:solidFill>
          <a:ln w="12700">
            <a:solidFill>
              <a:srgbClr val="CDA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34440" y="396849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In-kind donations and volunteered services matched the full KES 100,000 self-funded baseline — without the KES 250,000 corporate sponsorship originally pursued.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solidFill>
            <a:srgbClr val="2C5330"/>
          </a:solidFill>
          <a:ln w="12700">
            <a:solidFill>
              <a:srgbClr val="CDA8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983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DA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492861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80" dirty="0">
                <a:solidFill>
                  <a:srgbClr val="F3F1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owned list of potential customers, clients, and donors built for Chef Abala, plus a reusable content library for future pitches.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DA8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“460+ people fed. Community goodwill earned.”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635240" y="1417320"/>
            <a:ext cx="3977640" cy="3977640"/>
          </a:xfrm>
          <a:prstGeom prst="rect">
            <a:avLst/>
          </a:prstGeom>
          <a:ln w="12700">
            <a:solidFill>
              <a:srgbClr val="CDA857"/>
            </a:solidFill>
            <a:prstDash val="solid"/>
          </a:ln>
        </p:spPr>
      </p:sp>
      <p:pic>
        <p:nvPicPr>
          <p:cNvPr id="25" name="Image 0" descr="event pos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508760"/>
            <a:ext cx="3794760" cy="3794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2026-09-04T04:47:21Z</dcterms:created>
  <dcterms:modified xsi:type="dcterms:W3CDTF">2026-09-04T04:47:21Z</dcterms:modified>
</cp:coreProperties>
</file>