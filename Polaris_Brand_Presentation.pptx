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p:bgPr>
    </p:bg>
    <p:spTree>
      <p:nvGrpSpPr>
        <p:cNvPr id="1" name=""/>
        <p:cNvGrpSpPr/>
        <p:nvPr/>
      </p:nvGrpSpPr>
      <p:grpSpPr>
        <a:xfrm>
          <a:off x="0" y="0"/>
          <a:ext cx="0" cy="0"/>
          <a:chOff x="0" y="0"/>
          <a:chExt cx="0" cy="0"/>
        </a:xfrm>
      </p:grpSpPr>
      <p:pic>
        <p:nvPicPr>
          <p:cNvPr id="2" name="Image 0" descr="/home/claude/polaris/assets/icon_mark_transparent_cropped.png">    </p:cNvPr>
          <p:cNvPicPr>
            <a:picLocks noChangeAspect="1"/>
          </p:cNvPicPr>
          <p:nvPr/>
        </p:nvPicPr>
        <p:blipFill>
          <a:blip r:embed="rId1"/>
          <a:stretch>
            <a:fillRect/>
          </a:stretch>
        </p:blipFill>
        <p:spPr>
          <a:xfrm>
            <a:off x="5180076" y="777240"/>
            <a:ext cx="1828800" cy="2080413"/>
          </a:xfrm>
          <a:prstGeom prst="rect">
            <a:avLst/>
          </a:prstGeom>
        </p:spPr>
      </p:pic>
      <p:sp>
        <p:nvSpPr>
          <p:cNvPr id="3" name="Text 0"/>
          <p:cNvSpPr/>
          <p:nvPr/>
        </p:nvSpPr>
        <p:spPr>
          <a:xfrm>
            <a:off x="0" y="2971800"/>
            <a:ext cx="12188952" cy="640080"/>
          </a:xfrm>
          <a:prstGeom prst="rect">
            <a:avLst/>
          </a:prstGeom>
          <a:noFill/>
          <a:ln/>
        </p:spPr>
        <p:txBody>
          <a:bodyPr wrap="square" lIns="0" tIns="0" rIns="0" bIns="0" rtlCol="0" anchor="ctr"/>
          <a:lstStyle/>
          <a:p>
            <a:pPr algn="ctr" indent="0" marL="0">
              <a:buNone/>
            </a:pPr>
            <a:r>
              <a:rPr lang="en-US" sz="4000" b="1" spc="200" kern="0" dirty="0">
                <a:solidFill>
                  <a:srgbClr val="F8F5EE"/>
                </a:solidFill>
                <a:latin typeface="Cormorant Garamond" pitchFamily="34" charset="0"/>
                <a:ea typeface="Cormorant Garamond" pitchFamily="34" charset="-122"/>
                <a:cs typeface="Cormorant Garamond" pitchFamily="34" charset="-120"/>
              </a:rPr>
              <a:t>POLARIS ACADEMIC AGENTS</a:t>
            </a:r>
            <a:endParaRPr lang="en-US" sz="4000" dirty="0"/>
          </a:p>
        </p:txBody>
      </p:sp>
      <p:sp>
        <p:nvSpPr>
          <p:cNvPr id="4" name="Text 1"/>
          <p:cNvSpPr/>
          <p:nvPr/>
        </p:nvSpPr>
        <p:spPr>
          <a:xfrm>
            <a:off x="0" y="3584448"/>
            <a:ext cx="12188952" cy="457200"/>
          </a:xfrm>
          <a:prstGeom prst="rect">
            <a:avLst/>
          </a:prstGeom>
          <a:noFill/>
          <a:ln/>
        </p:spPr>
        <p:txBody>
          <a:bodyPr wrap="square" lIns="0" tIns="0" rIns="0" bIns="0" rtlCol="0" anchor="ctr"/>
          <a:lstStyle/>
          <a:p>
            <a:pPr algn="ctr" indent="0" marL="0">
              <a:buNone/>
            </a:pPr>
            <a:r>
              <a:rPr lang="en-US" sz="2000" i="1" dirty="0">
                <a:solidFill>
                  <a:srgbClr val="C9A84C"/>
                </a:solidFill>
                <a:latin typeface="Cormorant Garamond" pitchFamily="34" charset="0"/>
                <a:ea typeface="Cormorant Garamond" pitchFamily="34" charset="-122"/>
                <a:cs typeface="Cormorant Garamond" pitchFamily="34" charset="-120"/>
              </a:rPr>
              <a:t>Visual Identity System</a:t>
            </a:r>
            <a:endParaRPr lang="en-US" sz="2000" dirty="0"/>
          </a:p>
        </p:txBody>
      </p:sp>
      <p:sp>
        <p:nvSpPr>
          <p:cNvPr id="5" name="Text 2"/>
          <p:cNvSpPr/>
          <p:nvPr/>
        </p:nvSpPr>
        <p:spPr>
          <a:xfrm>
            <a:off x="0" y="6126480"/>
            <a:ext cx="12188952" cy="365760"/>
          </a:xfrm>
          <a:prstGeom prst="rect">
            <a:avLst/>
          </a:prstGeom>
          <a:noFill/>
          <a:ln/>
        </p:spPr>
        <p:txBody>
          <a:bodyPr wrap="square" lIns="0" tIns="0" rIns="0" bIns="0" rtlCol="0" anchor="ctr"/>
          <a:lstStyle/>
          <a:p>
            <a:pPr algn="ctr" indent="0" marL="0">
              <a:buNone/>
            </a:pPr>
            <a:r>
              <a:rPr lang="en-US" sz="1200" dirty="0">
                <a:solidFill>
                  <a:srgbClr val="8E9BBE"/>
                </a:solidFill>
                <a:latin typeface="Calibri" pitchFamily="34" charset="0"/>
                <a:ea typeface="Calibri" pitchFamily="34" charset="-122"/>
                <a:cs typeface="Calibri" pitchFamily="34" charset="-120"/>
              </a:rPr>
              <a:t>Prepared for client review  ·  June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5EE"/>
        </a:solidFill>
      </p:bgPr>
    </p:bg>
    <p:spTree>
      <p:nvGrpSpPr>
        <p:cNvPr id="1" name=""/>
        <p:cNvGrpSpPr/>
        <p:nvPr/>
      </p:nvGrpSpPr>
      <p:grpSpPr>
        <a:xfrm>
          <a:off x="0" y="0"/>
          <a:ext cx="0" cy="0"/>
          <a:chOff x="0" y="0"/>
          <a:chExt cx="0" cy="0"/>
        </a:xfrm>
      </p:grpSpPr>
      <p:sp>
        <p:nvSpPr>
          <p:cNvPr id="2" name="Text 0"/>
          <p:cNvSpPr/>
          <p:nvPr/>
        </p:nvSpPr>
        <p:spPr>
          <a:xfrm>
            <a:off x="640080" y="411480"/>
            <a:ext cx="5486400" cy="320040"/>
          </a:xfrm>
          <a:prstGeom prst="rect">
            <a:avLst/>
          </a:prstGeom>
          <a:noFill/>
          <a:ln/>
        </p:spPr>
        <p:txBody>
          <a:bodyPr wrap="square" lIns="0" tIns="0" rIns="0" bIns="0" rtlCol="0" anchor="ctr"/>
          <a:lstStyle/>
          <a:p>
            <a:pPr indent="0" marL="0">
              <a:buNone/>
            </a:pPr>
            <a:r>
              <a:rPr lang="en-US" sz="1200" b="1" spc="300" kern="0" dirty="0">
                <a:solidFill>
                  <a:srgbClr val="C9A84C"/>
                </a:solidFill>
                <a:latin typeface="Calibri" pitchFamily="34" charset="0"/>
                <a:ea typeface="Calibri" pitchFamily="34" charset="-122"/>
                <a:cs typeface="Calibri" pitchFamily="34" charset="-120"/>
              </a:rPr>
              <a:t>WHERE WE STARTED</a:t>
            </a:r>
            <a:endParaRPr lang="en-US" sz="1200" dirty="0"/>
          </a:p>
        </p:txBody>
      </p:sp>
      <p:sp>
        <p:nvSpPr>
          <p:cNvPr id="3" name="Text 1"/>
          <p:cNvSpPr/>
          <p:nvPr/>
        </p:nvSpPr>
        <p:spPr>
          <a:xfrm>
            <a:off x="640080" y="777240"/>
            <a:ext cx="10881360" cy="822960"/>
          </a:xfrm>
          <a:prstGeom prst="rect">
            <a:avLst/>
          </a:prstGeom>
          <a:noFill/>
          <a:ln/>
        </p:spPr>
        <p:txBody>
          <a:bodyPr wrap="square" lIns="0" tIns="0" rIns="0" bIns="0" rtlCol="0" anchor="ctr"/>
          <a:lstStyle/>
          <a:p>
            <a:pPr indent="0" marL="0">
              <a:buNone/>
            </a:pPr>
            <a:r>
              <a:rPr lang="en-US" sz="3200" b="1" dirty="0">
                <a:solidFill>
                  <a:srgbClr val="0D1B3E"/>
                </a:solidFill>
                <a:latin typeface="Cormorant Garamond" pitchFamily="34" charset="0"/>
                <a:ea typeface="Cormorant Garamond" pitchFamily="34" charset="-122"/>
                <a:cs typeface="Cormorant Garamond" pitchFamily="34" charset="-120"/>
              </a:rPr>
              <a:t>The Problem</a:t>
            </a:r>
            <a:endParaRPr lang="en-US" sz="3200" dirty="0"/>
          </a:p>
        </p:txBody>
      </p:sp>
      <p:sp>
        <p:nvSpPr>
          <p:cNvPr id="4" name="Text 2"/>
          <p:cNvSpPr/>
          <p:nvPr/>
        </p:nvSpPr>
        <p:spPr>
          <a:xfrm>
            <a:off x="640080" y="1691640"/>
            <a:ext cx="6126480" cy="1554480"/>
          </a:xfrm>
          <a:prstGeom prst="rect">
            <a:avLst/>
          </a:prstGeom>
          <a:noFill/>
          <a:ln/>
        </p:spPr>
        <p:txBody>
          <a:bodyPr wrap="square" lIns="0" tIns="0" rIns="0" bIns="0" rtlCol="0" anchor="ctr"/>
          <a:lstStyle/>
          <a:p>
            <a:pPr indent="0" marL="0">
              <a:lnSpc>
                <a:spcPct val="125000"/>
              </a:lnSpc>
              <a:buNone/>
            </a:pPr>
            <a:r>
              <a:rPr lang="en-US" sz="1500" dirty="0">
                <a:solidFill>
                  <a:srgbClr val="3D3530"/>
                </a:solidFill>
                <a:latin typeface="Calibri" pitchFamily="34" charset="0"/>
                <a:ea typeface="Calibri" pitchFamily="34" charset="-122"/>
                <a:cs typeface="Calibri" pitchFamily="34" charset="-120"/>
              </a:rPr>
              <a:t>Polaris speaks to two audiences in the same room who need to hear different things. Students need the dream to feel real and achievable. Parents need to feel their child will be safe and the money well spent. Most brands pick one audience and hope the other follows.</a:t>
            </a:r>
            <a:endParaRPr lang="en-US" sz="1500" dirty="0"/>
          </a:p>
        </p:txBody>
      </p:sp>
      <p:sp>
        <p:nvSpPr>
          <p:cNvPr id="5" name="Text 3"/>
          <p:cNvSpPr/>
          <p:nvPr/>
        </p:nvSpPr>
        <p:spPr>
          <a:xfrm>
            <a:off x="640080" y="3337560"/>
            <a:ext cx="6126480" cy="1005840"/>
          </a:xfrm>
          <a:prstGeom prst="rect">
            <a:avLst/>
          </a:prstGeom>
          <a:noFill/>
          <a:ln/>
        </p:spPr>
        <p:txBody>
          <a:bodyPr wrap="square" lIns="0" tIns="0" rIns="0" bIns="0" rtlCol="0" anchor="ctr"/>
          <a:lstStyle/>
          <a:p>
            <a:pPr indent="0" marL="0">
              <a:lnSpc>
                <a:spcPct val="125000"/>
              </a:lnSpc>
              <a:buNone/>
            </a:pPr>
            <a:r>
              <a:rPr lang="en-US" sz="1500" i="1" dirty="0">
                <a:solidFill>
                  <a:srgbClr val="2A4A7F"/>
                </a:solidFill>
                <a:latin typeface="Cormorant Garamond" pitchFamily="34" charset="0"/>
                <a:ea typeface="Cormorant Garamond" pitchFamily="34" charset="-122"/>
                <a:cs typeface="Cormorant Garamond" pitchFamily="34" charset="-120"/>
              </a:rPr>
              <a:t>The mark had to hold authority and warmth simultaneously — credible enough for an institutional letterhead, exciting enough to stop a student mid-scroll on Instagram.</a:t>
            </a:r>
            <a:endParaRPr lang="en-US" sz="1500" dirty="0"/>
          </a:p>
        </p:txBody>
      </p:sp>
      <p:sp>
        <p:nvSpPr>
          <p:cNvPr id="6" name="Shape 4"/>
          <p:cNvSpPr/>
          <p:nvPr/>
        </p:nvSpPr>
        <p:spPr>
          <a:xfrm>
            <a:off x="7086600" y="1691640"/>
            <a:ext cx="4434840" cy="1143000"/>
          </a:xfrm>
          <a:prstGeom prst="rect">
            <a:avLst/>
          </a:prstGeom>
          <a:solidFill>
            <a:srgbClr val="FFFFFF"/>
          </a:solidFill>
          <a:ln/>
          <a:effectLst>
            <a:outerShdw sx="100000" sy="100000" kx="0" ky="0" algn="bl" rotWithShape="0" blurRad="101600" dist="25400" dir="5400000">
              <a:srgbClr val="000000">
                <a:alpha val="10000"/>
              </a:srgbClr>
            </a:outerShdw>
          </a:effectLst>
        </p:spPr>
      </p:sp>
      <p:sp>
        <p:nvSpPr>
          <p:cNvPr id="7" name="Text 5"/>
          <p:cNvSpPr/>
          <p:nvPr/>
        </p:nvSpPr>
        <p:spPr>
          <a:xfrm>
            <a:off x="7315200" y="1801368"/>
            <a:ext cx="4023360" cy="365760"/>
          </a:xfrm>
          <a:prstGeom prst="rect">
            <a:avLst/>
          </a:prstGeom>
          <a:noFill/>
          <a:ln/>
        </p:spPr>
        <p:txBody>
          <a:bodyPr wrap="square" lIns="0" tIns="0" rIns="0" bIns="0" rtlCol="0" anchor="ctr"/>
          <a:lstStyle/>
          <a:p>
            <a:pPr indent="0" marL="0">
              <a:buNone/>
            </a:pPr>
            <a:r>
              <a:rPr lang="en-US" sz="1600" b="1" dirty="0">
                <a:solidFill>
                  <a:srgbClr val="0D1B3E"/>
                </a:solidFill>
                <a:latin typeface="Cormorant Garamond" pitchFamily="34" charset="0"/>
                <a:ea typeface="Cormorant Garamond" pitchFamily="34" charset="-122"/>
                <a:cs typeface="Cormorant Garamond" pitchFamily="34" charset="-120"/>
              </a:rPr>
              <a:t>Trust &amp; expertise</a:t>
            </a:r>
            <a:endParaRPr lang="en-US" sz="1600" dirty="0"/>
          </a:p>
        </p:txBody>
      </p:sp>
      <p:sp>
        <p:nvSpPr>
          <p:cNvPr id="8" name="Text 6"/>
          <p:cNvSpPr/>
          <p:nvPr/>
        </p:nvSpPr>
        <p:spPr>
          <a:xfrm>
            <a:off x="7315200" y="2167128"/>
            <a:ext cx="4023360" cy="594360"/>
          </a:xfrm>
          <a:prstGeom prst="rect">
            <a:avLst/>
          </a:prstGeom>
          <a:noFill/>
          <a:ln/>
        </p:spPr>
        <p:txBody>
          <a:bodyPr wrap="square" lIns="0" tIns="0" rIns="0" bIns="0" rtlCol="0" anchor="ctr"/>
          <a:lstStyle/>
          <a:p>
            <a:pPr indent="0" marL="0">
              <a:lnSpc>
                <a:spcPct val="115000"/>
              </a:lnSpc>
              <a:buNone/>
            </a:pPr>
            <a:r>
              <a:rPr lang="en-US" sz="1150" dirty="0">
                <a:solidFill>
                  <a:srgbClr val="3D3530"/>
                </a:solidFill>
                <a:latin typeface="Calibri" pitchFamily="34" charset="0"/>
                <a:ea typeface="Calibri" pitchFamily="34" charset="-122"/>
                <a:cs typeface="Calibri" pitchFamily="34" charset="-120"/>
              </a:rPr>
              <a:t>Institutional stability for the parents footing the bill.</a:t>
            </a:r>
            <a:endParaRPr lang="en-US" sz="1150" dirty="0"/>
          </a:p>
        </p:txBody>
      </p:sp>
      <p:sp>
        <p:nvSpPr>
          <p:cNvPr id="9" name="Shape 7"/>
          <p:cNvSpPr/>
          <p:nvPr/>
        </p:nvSpPr>
        <p:spPr>
          <a:xfrm>
            <a:off x="7086600" y="3063240"/>
            <a:ext cx="4434840" cy="1143000"/>
          </a:xfrm>
          <a:prstGeom prst="rect">
            <a:avLst/>
          </a:prstGeom>
          <a:solidFill>
            <a:srgbClr val="FFFFFF"/>
          </a:solidFill>
          <a:ln/>
          <a:effectLst>
            <a:outerShdw sx="100000" sy="100000" kx="0" ky="0" algn="bl" rotWithShape="0" blurRad="101600" dist="25400" dir="5400000">
              <a:srgbClr val="000000">
                <a:alpha val="10000"/>
              </a:srgbClr>
            </a:outerShdw>
          </a:effectLst>
        </p:spPr>
      </p:sp>
      <p:sp>
        <p:nvSpPr>
          <p:cNvPr id="10" name="Text 8"/>
          <p:cNvSpPr/>
          <p:nvPr/>
        </p:nvSpPr>
        <p:spPr>
          <a:xfrm>
            <a:off x="7315200" y="3172968"/>
            <a:ext cx="4023360" cy="365760"/>
          </a:xfrm>
          <a:prstGeom prst="rect">
            <a:avLst/>
          </a:prstGeom>
          <a:noFill/>
          <a:ln/>
        </p:spPr>
        <p:txBody>
          <a:bodyPr wrap="square" lIns="0" tIns="0" rIns="0" bIns="0" rtlCol="0" anchor="ctr"/>
          <a:lstStyle/>
          <a:p>
            <a:pPr indent="0" marL="0">
              <a:buNone/>
            </a:pPr>
            <a:r>
              <a:rPr lang="en-US" sz="1600" b="1" dirty="0">
                <a:solidFill>
                  <a:srgbClr val="0D1B3E"/>
                </a:solidFill>
                <a:latin typeface="Cormorant Garamond" pitchFamily="34" charset="0"/>
                <a:ea typeface="Cormorant Garamond" pitchFamily="34" charset="-122"/>
                <a:cs typeface="Cormorant Garamond" pitchFamily="34" charset="-120"/>
              </a:rPr>
              <a:t>Aspiration &amp; lift</a:t>
            </a:r>
            <a:endParaRPr lang="en-US" sz="1600" dirty="0"/>
          </a:p>
        </p:txBody>
      </p:sp>
      <p:sp>
        <p:nvSpPr>
          <p:cNvPr id="11" name="Text 9"/>
          <p:cNvSpPr/>
          <p:nvPr/>
        </p:nvSpPr>
        <p:spPr>
          <a:xfrm>
            <a:off x="7315200" y="3538728"/>
            <a:ext cx="4023360" cy="594360"/>
          </a:xfrm>
          <a:prstGeom prst="rect">
            <a:avLst/>
          </a:prstGeom>
          <a:noFill/>
          <a:ln/>
        </p:spPr>
        <p:txBody>
          <a:bodyPr wrap="square" lIns="0" tIns="0" rIns="0" bIns="0" rtlCol="0" anchor="ctr"/>
          <a:lstStyle/>
          <a:p>
            <a:pPr indent="0" marL="0">
              <a:lnSpc>
                <a:spcPct val="115000"/>
              </a:lnSpc>
              <a:buNone/>
            </a:pPr>
            <a:r>
              <a:rPr lang="en-US" sz="1150" dirty="0">
                <a:solidFill>
                  <a:srgbClr val="3D3530"/>
                </a:solidFill>
                <a:latin typeface="Calibri" pitchFamily="34" charset="0"/>
                <a:ea typeface="Calibri" pitchFamily="34" charset="-122"/>
                <a:cs typeface="Calibri" pitchFamily="34" charset="-120"/>
              </a:rPr>
              <a:t>The excitement of a bigger world opening up.</a:t>
            </a:r>
            <a:endParaRPr lang="en-US" sz="1150" dirty="0"/>
          </a:p>
        </p:txBody>
      </p:sp>
      <p:sp>
        <p:nvSpPr>
          <p:cNvPr id="12" name="Shape 10"/>
          <p:cNvSpPr/>
          <p:nvPr/>
        </p:nvSpPr>
        <p:spPr>
          <a:xfrm>
            <a:off x="7086600" y="4434840"/>
            <a:ext cx="4434840" cy="1143000"/>
          </a:xfrm>
          <a:prstGeom prst="rect">
            <a:avLst/>
          </a:prstGeom>
          <a:solidFill>
            <a:srgbClr val="FFFFFF"/>
          </a:solidFill>
          <a:ln/>
          <a:effectLst>
            <a:outerShdw sx="100000" sy="100000" kx="0" ky="0" algn="bl" rotWithShape="0" blurRad="101600" dist="25400" dir="5400000">
              <a:srgbClr val="000000">
                <a:alpha val="10000"/>
              </a:srgbClr>
            </a:outerShdw>
          </a:effectLst>
        </p:spPr>
      </p:sp>
      <p:sp>
        <p:nvSpPr>
          <p:cNvPr id="13" name="Text 11"/>
          <p:cNvSpPr/>
          <p:nvPr/>
        </p:nvSpPr>
        <p:spPr>
          <a:xfrm>
            <a:off x="7315200" y="4544568"/>
            <a:ext cx="4023360" cy="365760"/>
          </a:xfrm>
          <a:prstGeom prst="rect">
            <a:avLst/>
          </a:prstGeom>
          <a:noFill/>
          <a:ln/>
        </p:spPr>
        <p:txBody>
          <a:bodyPr wrap="square" lIns="0" tIns="0" rIns="0" bIns="0" rtlCol="0" anchor="ctr"/>
          <a:lstStyle/>
          <a:p>
            <a:pPr indent="0" marL="0">
              <a:buNone/>
            </a:pPr>
            <a:r>
              <a:rPr lang="en-US" sz="1600" b="1" dirty="0">
                <a:solidFill>
                  <a:srgbClr val="0D1B3E"/>
                </a:solidFill>
                <a:latin typeface="Cormorant Garamond" pitchFamily="34" charset="0"/>
                <a:ea typeface="Cormorant Garamond" pitchFamily="34" charset="-122"/>
                <a:cs typeface="Cormorant Garamond" pitchFamily="34" charset="-120"/>
              </a:rPr>
              <a:t>Rooted in education</a:t>
            </a:r>
            <a:endParaRPr lang="en-US" sz="1600" dirty="0"/>
          </a:p>
        </p:txBody>
      </p:sp>
      <p:sp>
        <p:nvSpPr>
          <p:cNvPr id="14" name="Text 12"/>
          <p:cNvSpPr/>
          <p:nvPr/>
        </p:nvSpPr>
        <p:spPr>
          <a:xfrm>
            <a:off x="7315200" y="4910328"/>
            <a:ext cx="4023360" cy="594360"/>
          </a:xfrm>
          <a:prstGeom prst="rect">
            <a:avLst/>
          </a:prstGeom>
          <a:noFill/>
          <a:ln/>
        </p:spPr>
        <p:txBody>
          <a:bodyPr wrap="square" lIns="0" tIns="0" rIns="0" bIns="0" rtlCol="0" anchor="ctr"/>
          <a:lstStyle/>
          <a:p>
            <a:pPr indent="0" marL="0">
              <a:lnSpc>
                <a:spcPct val="115000"/>
              </a:lnSpc>
              <a:buNone/>
            </a:pPr>
            <a:r>
              <a:rPr lang="en-US" sz="1150" dirty="0">
                <a:solidFill>
                  <a:srgbClr val="3D3530"/>
                </a:solidFill>
                <a:latin typeface="Calibri" pitchFamily="34" charset="0"/>
                <a:ea typeface="Calibri" pitchFamily="34" charset="-122"/>
                <a:cs typeface="Calibri" pitchFamily="34" charset="-120"/>
              </a:rPr>
              <a:t>Without leaning on the cliche of a book or mortarboard.</a:t>
            </a:r>
            <a:endParaRPr lang="en-US" sz="1150" dirty="0"/>
          </a:p>
        </p:txBody>
      </p:sp>
      <p:sp>
        <p:nvSpPr>
          <p:cNvPr id="15" name="Text 13"/>
          <p:cNvSpPr/>
          <p:nvPr/>
        </p:nvSpPr>
        <p:spPr>
          <a:xfrm>
            <a:off x="11365992" y="6355080"/>
            <a:ext cx="548640" cy="274320"/>
          </a:xfrm>
          <a:prstGeom prst="rect">
            <a:avLst/>
          </a:prstGeom>
          <a:noFill/>
          <a:ln/>
        </p:spPr>
        <p:txBody>
          <a:bodyPr wrap="square" lIns="0" tIns="0" rIns="0" bIns="0" rtlCol="0" anchor="ctr"/>
          <a:lstStyle/>
          <a:p>
            <a:pPr algn="r" indent="0" marL="0">
              <a:buNone/>
            </a:pPr>
            <a:r>
              <a:rPr lang="en-US" sz="1000" dirty="0">
                <a:solidFill>
                  <a:srgbClr val="888880"/>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3E"/>
        </a:solidFill>
      </p:bgPr>
    </p:bg>
    <p:spTree>
      <p:nvGrpSpPr>
        <p:cNvPr id="1" name=""/>
        <p:cNvGrpSpPr/>
        <p:nvPr/>
      </p:nvGrpSpPr>
      <p:grpSpPr>
        <a:xfrm>
          <a:off x="0" y="0"/>
          <a:ext cx="0" cy="0"/>
          <a:chOff x="0" y="0"/>
          <a:chExt cx="0" cy="0"/>
        </a:xfrm>
      </p:grpSpPr>
      <p:sp>
        <p:nvSpPr>
          <p:cNvPr id="2" name="Text 0"/>
          <p:cNvSpPr/>
          <p:nvPr/>
        </p:nvSpPr>
        <p:spPr>
          <a:xfrm>
            <a:off x="640080" y="411480"/>
            <a:ext cx="5486400" cy="320040"/>
          </a:xfrm>
          <a:prstGeom prst="rect">
            <a:avLst/>
          </a:prstGeom>
          <a:noFill/>
          <a:ln/>
        </p:spPr>
        <p:txBody>
          <a:bodyPr wrap="square" lIns="0" tIns="0" rIns="0" bIns="0" rtlCol="0" anchor="ctr"/>
          <a:lstStyle/>
          <a:p>
            <a:pPr indent="0" marL="0">
              <a:buNone/>
            </a:pPr>
            <a:r>
              <a:rPr lang="en-US" sz="1200" b="1" spc="300" kern="0" dirty="0">
                <a:solidFill>
                  <a:srgbClr val="C9A84C"/>
                </a:solidFill>
                <a:latin typeface="Calibri" pitchFamily="34" charset="0"/>
                <a:ea typeface="Calibri" pitchFamily="34" charset="-122"/>
                <a:cs typeface="Calibri" pitchFamily="34" charset="-120"/>
              </a:rPr>
              <a:t>THE CONCEPT</a:t>
            </a:r>
            <a:endParaRPr lang="en-US" sz="1200" dirty="0"/>
          </a:p>
        </p:txBody>
      </p:sp>
      <p:sp>
        <p:nvSpPr>
          <p:cNvPr id="3" name="Text 1"/>
          <p:cNvSpPr/>
          <p:nvPr/>
        </p:nvSpPr>
        <p:spPr>
          <a:xfrm>
            <a:off x="640080" y="777240"/>
            <a:ext cx="10881360" cy="822960"/>
          </a:xfrm>
          <a:prstGeom prst="rect">
            <a:avLst/>
          </a:prstGeom>
          <a:noFill/>
          <a:ln/>
        </p:spPr>
        <p:txBody>
          <a:bodyPr wrap="square" lIns="0" tIns="0" rIns="0" bIns="0" rtlCol="0" anchor="ctr"/>
          <a:lstStyle/>
          <a:p>
            <a:pPr indent="0" marL="0">
              <a:buNone/>
            </a:pPr>
            <a:r>
              <a:rPr lang="en-US" sz="3200" b="1" dirty="0">
                <a:solidFill>
                  <a:srgbClr val="F8F5EE"/>
                </a:solidFill>
                <a:latin typeface="Cormorant Garamond" pitchFamily="34" charset="0"/>
                <a:ea typeface="Cormorant Garamond" pitchFamily="34" charset="-122"/>
                <a:cs typeface="Cormorant Garamond" pitchFamily="34" charset="-120"/>
              </a:rPr>
              <a:t>Our Solution</a:t>
            </a:r>
            <a:endParaRPr lang="en-US" sz="3200" dirty="0"/>
          </a:p>
        </p:txBody>
      </p:sp>
      <p:pic>
        <p:nvPicPr>
          <p:cNvPr id="4" name="Image 0" descr="/home/claude/polaris/assets/icon_mark_transparent_cropped.png">    </p:cNvPr>
          <p:cNvPicPr>
            <a:picLocks noChangeAspect="1"/>
          </p:cNvPicPr>
          <p:nvPr/>
        </p:nvPicPr>
        <p:blipFill>
          <a:blip r:embed="rId1"/>
          <a:stretch>
            <a:fillRect/>
          </a:stretch>
        </p:blipFill>
        <p:spPr>
          <a:xfrm>
            <a:off x="914400" y="1783080"/>
            <a:ext cx="3200400" cy="3640723"/>
          </a:xfrm>
          <a:prstGeom prst="rect">
            <a:avLst/>
          </a:prstGeom>
        </p:spPr>
      </p:pic>
      <p:sp>
        <p:nvSpPr>
          <p:cNvPr id="5" name="Text 2"/>
          <p:cNvSpPr/>
          <p:nvPr/>
        </p:nvSpPr>
        <p:spPr>
          <a:xfrm>
            <a:off x="4572000" y="1737360"/>
            <a:ext cx="6949440" cy="365760"/>
          </a:xfrm>
          <a:prstGeom prst="rect">
            <a:avLst/>
          </a:prstGeom>
          <a:noFill/>
          <a:ln/>
        </p:spPr>
        <p:txBody>
          <a:bodyPr wrap="square" lIns="0" tIns="0" rIns="0" bIns="0" rtlCol="0" anchor="ctr"/>
          <a:lstStyle/>
          <a:p>
            <a:pPr indent="0" marL="0">
              <a:buNone/>
            </a:pPr>
            <a:r>
              <a:rPr lang="en-US" sz="1800" b="1" dirty="0">
                <a:solidFill>
                  <a:srgbClr val="C9A84C"/>
                </a:solidFill>
                <a:latin typeface="Cormorant Garamond" pitchFamily="34" charset="0"/>
                <a:ea typeface="Cormorant Garamond" pitchFamily="34" charset="-122"/>
                <a:cs typeface="Cormorant Garamond" pitchFamily="34" charset="-120"/>
              </a:rPr>
              <a:t>The globe</a:t>
            </a:r>
            <a:endParaRPr lang="en-US" sz="1800" dirty="0"/>
          </a:p>
        </p:txBody>
      </p:sp>
      <p:sp>
        <p:nvSpPr>
          <p:cNvPr id="6" name="Text 3"/>
          <p:cNvSpPr/>
          <p:nvPr/>
        </p:nvSpPr>
        <p:spPr>
          <a:xfrm>
            <a:off x="4572000" y="2121408"/>
            <a:ext cx="6949440" cy="777240"/>
          </a:xfrm>
          <a:prstGeom prst="rect">
            <a:avLst/>
          </a:prstGeom>
          <a:noFill/>
          <a:ln/>
        </p:spPr>
        <p:txBody>
          <a:bodyPr wrap="square" lIns="0" tIns="0" rIns="0" bIns="0" rtlCol="0" anchor="ctr"/>
          <a:lstStyle/>
          <a:p>
            <a:pPr indent="0" marL="0">
              <a:lnSpc>
                <a:spcPct val="120000"/>
              </a:lnSpc>
              <a:buNone/>
            </a:pPr>
            <a:r>
              <a:rPr lang="en-US" sz="1300" dirty="0">
                <a:solidFill>
                  <a:srgbClr val="D8DEEE"/>
                </a:solidFill>
                <a:latin typeface="Calibri" pitchFamily="34" charset="0"/>
                <a:ea typeface="Calibri" pitchFamily="34" charset="-122"/>
                <a:cs typeface="Calibri" pitchFamily="34" charset="-120"/>
              </a:rPr>
              <a:t>Education means a bigger world, not a stack of textbooks. The globe speaks to every discipline a student might pursue, not just the classroom.</a:t>
            </a:r>
            <a:endParaRPr lang="en-US" sz="1300" dirty="0"/>
          </a:p>
        </p:txBody>
      </p:sp>
      <p:sp>
        <p:nvSpPr>
          <p:cNvPr id="7" name="Text 4"/>
          <p:cNvSpPr/>
          <p:nvPr/>
        </p:nvSpPr>
        <p:spPr>
          <a:xfrm>
            <a:off x="4572000" y="3154680"/>
            <a:ext cx="6949440" cy="365760"/>
          </a:xfrm>
          <a:prstGeom prst="rect">
            <a:avLst/>
          </a:prstGeom>
          <a:noFill/>
          <a:ln/>
        </p:spPr>
        <p:txBody>
          <a:bodyPr wrap="square" lIns="0" tIns="0" rIns="0" bIns="0" rtlCol="0" anchor="ctr"/>
          <a:lstStyle/>
          <a:p>
            <a:pPr indent="0" marL="0">
              <a:buNone/>
            </a:pPr>
            <a:r>
              <a:rPr lang="en-US" sz="1800" b="1" dirty="0">
                <a:solidFill>
                  <a:srgbClr val="C9A84C"/>
                </a:solidFill>
                <a:latin typeface="Cormorant Garamond" pitchFamily="34" charset="0"/>
                <a:ea typeface="Cormorant Garamond" pitchFamily="34" charset="-122"/>
                <a:cs typeface="Cormorant Garamond" pitchFamily="34" charset="-120"/>
              </a:rPr>
              <a:t>Africa - front and centre</a:t>
            </a:r>
            <a:endParaRPr lang="en-US" sz="1800" dirty="0"/>
          </a:p>
        </p:txBody>
      </p:sp>
      <p:sp>
        <p:nvSpPr>
          <p:cNvPr id="8" name="Text 5"/>
          <p:cNvSpPr/>
          <p:nvPr/>
        </p:nvSpPr>
        <p:spPr>
          <a:xfrm>
            <a:off x="4572000" y="3538728"/>
            <a:ext cx="6949440" cy="777240"/>
          </a:xfrm>
          <a:prstGeom prst="rect">
            <a:avLst/>
          </a:prstGeom>
          <a:noFill/>
          <a:ln/>
        </p:spPr>
        <p:txBody>
          <a:bodyPr wrap="square" lIns="0" tIns="0" rIns="0" bIns="0" rtlCol="0" anchor="ctr"/>
          <a:lstStyle/>
          <a:p>
            <a:pPr indent="0" marL="0">
              <a:lnSpc>
                <a:spcPct val="120000"/>
              </a:lnSpc>
              <a:buNone/>
            </a:pPr>
            <a:r>
              <a:rPr lang="en-US" sz="1300" dirty="0">
                <a:solidFill>
                  <a:srgbClr val="D8DEEE"/>
                </a:solidFill>
                <a:latin typeface="Calibri" pitchFamily="34" charset="0"/>
                <a:ea typeface="Calibri" pitchFamily="34" charset="-122"/>
                <a:cs typeface="Calibri" pitchFamily="34" charset="-120"/>
              </a:rPr>
              <a:t>The sphere is built from true geographic projection, not decoration. Africa dominates the visible face, exactly as it should for a Kenyan-founded agency serving African students.</a:t>
            </a:r>
            <a:endParaRPr lang="en-US" sz="1300" dirty="0"/>
          </a:p>
        </p:txBody>
      </p:sp>
      <p:sp>
        <p:nvSpPr>
          <p:cNvPr id="9" name="Text 6"/>
          <p:cNvSpPr/>
          <p:nvPr/>
        </p:nvSpPr>
        <p:spPr>
          <a:xfrm>
            <a:off x="4572000" y="4572000"/>
            <a:ext cx="6949440" cy="365760"/>
          </a:xfrm>
          <a:prstGeom prst="rect">
            <a:avLst/>
          </a:prstGeom>
          <a:noFill/>
          <a:ln/>
        </p:spPr>
        <p:txBody>
          <a:bodyPr wrap="square" lIns="0" tIns="0" rIns="0" bIns="0" rtlCol="0" anchor="ctr"/>
          <a:lstStyle/>
          <a:p>
            <a:pPr indent="0" marL="0">
              <a:buNone/>
            </a:pPr>
            <a:r>
              <a:rPr lang="en-US" sz="1800" b="1" dirty="0">
                <a:solidFill>
                  <a:srgbClr val="C9A84C"/>
                </a:solidFill>
                <a:latin typeface="Cormorant Garamond" pitchFamily="34" charset="0"/>
                <a:ea typeface="Cormorant Garamond" pitchFamily="34" charset="-122"/>
                <a:cs typeface="Cormorant Garamond" pitchFamily="34" charset="-120"/>
              </a:rPr>
              <a:t>The Polaris Star</a:t>
            </a:r>
            <a:endParaRPr lang="en-US" sz="1800" dirty="0"/>
          </a:p>
        </p:txBody>
      </p:sp>
      <p:sp>
        <p:nvSpPr>
          <p:cNvPr id="10" name="Text 7"/>
          <p:cNvSpPr/>
          <p:nvPr/>
        </p:nvSpPr>
        <p:spPr>
          <a:xfrm>
            <a:off x="4572000" y="4956048"/>
            <a:ext cx="6949440" cy="777240"/>
          </a:xfrm>
          <a:prstGeom prst="rect">
            <a:avLst/>
          </a:prstGeom>
          <a:noFill/>
          <a:ln/>
        </p:spPr>
        <p:txBody>
          <a:bodyPr wrap="square" lIns="0" tIns="0" rIns="0" bIns="0" rtlCol="0" anchor="ctr"/>
          <a:lstStyle/>
          <a:p>
            <a:pPr indent="0" marL="0">
              <a:lnSpc>
                <a:spcPct val="120000"/>
              </a:lnSpc>
              <a:buNone/>
            </a:pPr>
            <a:r>
              <a:rPr lang="en-US" sz="1300" dirty="0">
                <a:solidFill>
                  <a:srgbClr val="D8DEEE"/>
                </a:solidFill>
                <a:latin typeface="Calibri" pitchFamily="34" charset="0"/>
                <a:ea typeface="Calibri" pitchFamily="34" charset="-122"/>
                <a:cs typeface="Calibri" pitchFamily="34" charset="-120"/>
              </a:rPr>
              <a:t>A small guiding point sits beyond the globe's edge, present and watching. It is the one quiet nod to the brand name.</a:t>
            </a:r>
            <a:endParaRPr lang="en-US" sz="1300" dirty="0"/>
          </a:p>
        </p:txBody>
      </p:sp>
      <p:sp>
        <p:nvSpPr>
          <p:cNvPr id="11" name="Text 8"/>
          <p:cNvSpPr/>
          <p:nvPr/>
        </p:nvSpPr>
        <p:spPr>
          <a:xfrm>
            <a:off x="11365992" y="6355080"/>
            <a:ext cx="548640" cy="274320"/>
          </a:xfrm>
          <a:prstGeom prst="rect">
            <a:avLst/>
          </a:prstGeom>
          <a:noFill/>
          <a:ln/>
        </p:spPr>
        <p:txBody>
          <a:bodyPr wrap="square" lIns="0" tIns="0" rIns="0" bIns="0" rtlCol="0" anchor="ctr"/>
          <a:lstStyle/>
          <a:p>
            <a:pPr algn="r" indent="0" marL="0">
              <a:buNone/>
            </a:pPr>
            <a:r>
              <a:rPr lang="en-US" sz="1000" dirty="0">
                <a:solidFill>
                  <a:srgbClr val="888880"/>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5EE"/>
        </a:solidFill>
      </p:bgPr>
    </p:bg>
    <p:spTree>
      <p:nvGrpSpPr>
        <p:cNvPr id="1" name=""/>
        <p:cNvGrpSpPr/>
        <p:nvPr/>
      </p:nvGrpSpPr>
      <p:grpSpPr>
        <a:xfrm>
          <a:off x="0" y="0"/>
          <a:ext cx="0" cy="0"/>
          <a:chOff x="0" y="0"/>
          <a:chExt cx="0" cy="0"/>
        </a:xfrm>
      </p:grpSpPr>
      <p:sp>
        <p:nvSpPr>
          <p:cNvPr id="2" name="Text 0"/>
          <p:cNvSpPr/>
          <p:nvPr/>
        </p:nvSpPr>
        <p:spPr>
          <a:xfrm>
            <a:off x="640080" y="411480"/>
            <a:ext cx="5486400" cy="320040"/>
          </a:xfrm>
          <a:prstGeom prst="rect">
            <a:avLst/>
          </a:prstGeom>
          <a:noFill/>
          <a:ln/>
        </p:spPr>
        <p:txBody>
          <a:bodyPr wrap="square" lIns="0" tIns="0" rIns="0" bIns="0" rtlCol="0" anchor="ctr"/>
          <a:lstStyle/>
          <a:p>
            <a:pPr indent="0" marL="0">
              <a:buNone/>
            </a:pPr>
            <a:r>
              <a:rPr lang="en-US" sz="1200" b="1" spc="300" kern="0" dirty="0">
                <a:solidFill>
                  <a:srgbClr val="C9A84C"/>
                </a:solidFill>
                <a:latin typeface="Calibri" pitchFamily="34" charset="0"/>
                <a:ea typeface="Calibri" pitchFamily="34" charset="-122"/>
                <a:cs typeface="Calibri" pitchFamily="34" charset="-120"/>
              </a:rPr>
              <a:t>HOW IT WAS BUILT</a:t>
            </a:r>
            <a:endParaRPr lang="en-US" sz="1200" dirty="0"/>
          </a:p>
        </p:txBody>
      </p:sp>
      <p:sp>
        <p:nvSpPr>
          <p:cNvPr id="3" name="Text 1"/>
          <p:cNvSpPr/>
          <p:nvPr/>
        </p:nvSpPr>
        <p:spPr>
          <a:xfrm>
            <a:off x="640080" y="777240"/>
            <a:ext cx="10881360" cy="822960"/>
          </a:xfrm>
          <a:prstGeom prst="rect">
            <a:avLst/>
          </a:prstGeom>
          <a:noFill/>
          <a:ln/>
        </p:spPr>
        <p:txBody>
          <a:bodyPr wrap="square" lIns="0" tIns="0" rIns="0" bIns="0" rtlCol="0" anchor="ctr"/>
          <a:lstStyle/>
          <a:p>
            <a:pPr indent="0" marL="0">
              <a:buNone/>
            </a:pPr>
            <a:r>
              <a:rPr lang="en-US" sz="3200" b="1" dirty="0">
                <a:solidFill>
                  <a:srgbClr val="0D1B3E"/>
                </a:solidFill>
                <a:latin typeface="Cormorant Garamond" pitchFamily="34" charset="0"/>
                <a:ea typeface="Cormorant Garamond" pitchFamily="34" charset="-122"/>
                <a:cs typeface="Cormorant Garamond" pitchFamily="34" charset="-120"/>
              </a:rPr>
              <a:t>How It Was Built</a:t>
            </a:r>
            <a:endParaRPr lang="en-US" sz="3200" dirty="0"/>
          </a:p>
        </p:txBody>
      </p:sp>
      <p:sp>
        <p:nvSpPr>
          <p:cNvPr id="4" name="Text 2"/>
          <p:cNvSpPr/>
          <p:nvPr/>
        </p:nvSpPr>
        <p:spPr>
          <a:xfrm>
            <a:off x="640080" y="1600200"/>
            <a:ext cx="10515600" cy="594360"/>
          </a:xfrm>
          <a:prstGeom prst="rect">
            <a:avLst/>
          </a:prstGeom>
          <a:noFill/>
          <a:ln/>
        </p:spPr>
        <p:txBody>
          <a:bodyPr wrap="square" lIns="0" tIns="0" rIns="0" bIns="0" rtlCol="0" anchor="ctr"/>
          <a:lstStyle/>
          <a:p>
            <a:pPr indent="0" marL="0">
              <a:buNone/>
            </a:pPr>
            <a:r>
              <a:rPr lang="en-US" sz="1400" i="1" dirty="0">
                <a:solidFill>
                  <a:srgbClr val="2A4A7F"/>
                </a:solidFill>
                <a:latin typeface="Cormorant Garamond" pitchFamily="34" charset="0"/>
                <a:ea typeface="Cormorant Garamond" pitchFamily="34" charset="-122"/>
                <a:cs typeface="Cormorant Garamond" pitchFamily="34" charset="-120"/>
              </a:rPr>
              <a:t>Every proportion in this mark is derived mathematically, not chosen by feel — the discipline that keeps it consistent as it scales from a favicon to a building fascia.</a:t>
            </a:r>
            <a:endParaRPr lang="en-US" sz="1400" dirty="0"/>
          </a:p>
        </p:txBody>
      </p:sp>
      <p:sp>
        <p:nvSpPr>
          <p:cNvPr id="5" name="Shape 3"/>
          <p:cNvSpPr/>
          <p:nvPr/>
        </p:nvSpPr>
        <p:spPr>
          <a:xfrm>
            <a:off x="640080" y="2423160"/>
            <a:ext cx="3520440" cy="3383280"/>
          </a:xfrm>
          <a:prstGeom prst="rect">
            <a:avLst/>
          </a:prstGeom>
          <a:solidFill>
            <a:srgbClr val="FFFFFF"/>
          </a:solidFill>
          <a:ln/>
          <a:effectLst>
            <a:outerShdw sx="100000" sy="100000" kx="0" ky="0" algn="bl" rotWithShape="0" blurRad="127000" dist="38100" dir="5400000">
              <a:srgbClr val="000000">
                <a:alpha val="8000"/>
              </a:srgbClr>
            </a:outerShdw>
          </a:effectLst>
        </p:spPr>
      </p:sp>
      <p:sp>
        <p:nvSpPr>
          <p:cNvPr id="6" name="Shape 4"/>
          <p:cNvSpPr/>
          <p:nvPr/>
        </p:nvSpPr>
        <p:spPr>
          <a:xfrm>
            <a:off x="960120" y="2743200"/>
            <a:ext cx="457200" cy="64008"/>
          </a:xfrm>
          <a:prstGeom prst="rect">
            <a:avLst/>
          </a:prstGeom>
          <a:solidFill>
            <a:srgbClr val="C9A84C"/>
          </a:solidFill>
          <a:ln/>
        </p:spPr>
      </p:sp>
      <p:sp>
        <p:nvSpPr>
          <p:cNvPr id="7" name="Text 5"/>
          <p:cNvSpPr/>
          <p:nvPr/>
        </p:nvSpPr>
        <p:spPr>
          <a:xfrm>
            <a:off x="960120" y="2880360"/>
            <a:ext cx="2926080" cy="457200"/>
          </a:xfrm>
          <a:prstGeom prst="rect">
            <a:avLst/>
          </a:prstGeom>
          <a:noFill/>
          <a:ln/>
        </p:spPr>
        <p:txBody>
          <a:bodyPr wrap="square" lIns="0" tIns="0" rIns="0" bIns="0" rtlCol="0" anchor="ctr"/>
          <a:lstStyle/>
          <a:p>
            <a:pPr indent="0" marL="0">
              <a:buNone/>
            </a:pPr>
            <a:r>
              <a:rPr lang="en-US" sz="2000" b="1" dirty="0">
                <a:solidFill>
                  <a:srgbClr val="0D1B3E"/>
                </a:solidFill>
                <a:latin typeface="Cormorant Garamond" pitchFamily="34" charset="0"/>
                <a:ea typeface="Cormorant Garamond" pitchFamily="34" charset="-122"/>
                <a:cs typeface="Cormorant Garamond" pitchFamily="34" charset="-120"/>
              </a:rPr>
              <a:t>Swiss grid</a:t>
            </a:r>
            <a:endParaRPr lang="en-US" sz="2000" dirty="0"/>
          </a:p>
        </p:txBody>
      </p:sp>
      <p:sp>
        <p:nvSpPr>
          <p:cNvPr id="8" name="Text 6"/>
          <p:cNvSpPr/>
          <p:nvPr/>
        </p:nvSpPr>
        <p:spPr>
          <a:xfrm>
            <a:off x="960120" y="3310128"/>
            <a:ext cx="2926080" cy="320040"/>
          </a:xfrm>
          <a:prstGeom prst="rect">
            <a:avLst/>
          </a:prstGeom>
          <a:noFill/>
          <a:ln/>
        </p:spPr>
        <p:txBody>
          <a:bodyPr wrap="square" lIns="0" tIns="0" rIns="0" bIns="0" rtlCol="0" anchor="ctr"/>
          <a:lstStyle/>
          <a:p>
            <a:pPr indent="0" marL="0">
              <a:buNone/>
            </a:pPr>
            <a:r>
              <a:rPr lang="en-US" sz="1150" i="1" dirty="0">
                <a:solidFill>
                  <a:srgbClr val="C9A84C"/>
                </a:solidFill>
                <a:latin typeface="Calibri" pitchFamily="34" charset="0"/>
                <a:ea typeface="Calibri" pitchFamily="34" charset="-122"/>
                <a:cs typeface="Calibri" pitchFamily="34" charset="-120"/>
              </a:rPr>
              <a:t>International Style</a:t>
            </a:r>
            <a:endParaRPr lang="en-US" sz="1150" dirty="0"/>
          </a:p>
        </p:txBody>
      </p:sp>
      <p:sp>
        <p:nvSpPr>
          <p:cNvPr id="9" name="Text 7"/>
          <p:cNvSpPr/>
          <p:nvPr/>
        </p:nvSpPr>
        <p:spPr>
          <a:xfrm>
            <a:off x="960120" y="3703320"/>
            <a:ext cx="2926080" cy="1965960"/>
          </a:xfrm>
          <a:prstGeom prst="rect">
            <a:avLst/>
          </a:prstGeom>
          <a:noFill/>
          <a:ln/>
        </p:spPr>
        <p:txBody>
          <a:bodyPr wrap="square" lIns="0" tIns="0" rIns="0" bIns="0" rtlCol="0" anchor="ctr"/>
          <a:lstStyle/>
          <a:p>
            <a:pPr indent="0" marL="0">
              <a:lnSpc>
                <a:spcPct val="125000"/>
              </a:lnSpc>
              <a:buNone/>
            </a:pPr>
            <a:r>
              <a:rPr lang="en-US" sz="1200" dirty="0">
                <a:solidFill>
                  <a:srgbClr val="3D3530"/>
                </a:solidFill>
                <a:latin typeface="Calibri" pitchFamily="34" charset="0"/>
                <a:ea typeface="Calibri" pitchFamily="34" charset="-122"/>
                <a:cs typeface="Calibri" pitchFamily="34" charset="-120"/>
              </a:rPr>
              <a:t>Every element justified to a strict modular grid, the same discipline behind Lufthansa's identity system and the 1972 Munich Olympics.</a:t>
            </a:r>
            <a:endParaRPr lang="en-US" sz="1200" dirty="0"/>
          </a:p>
        </p:txBody>
      </p:sp>
      <p:sp>
        <p:nvSpPr>
          <p:cNvPr id="10" name="Shape 8"/>
          <p:cNvSpPr/>
          <p:nvPr/>
        </p:nvSpPr>
        <p:spPr>
          <a:xfrm>
            <a:off x="4416552" y="2423160"/>
            <a:ext cx="3520440" cy="3383280"/>
          </a:xfrm>
          <a:prstGeom prst="rect">
            <a:avLst/>
          </a:prstGeom>
          <a:solidFill>
            <a:srgbClr val="FFFFFF"/>
          </a:solidFill>
          <a:ln/>
          <a:effectLst>
            <a:outerShdw sx="100000" sy="100000" kx="0" ky="0" algn="bl" rotWithShape="0" blurRad="127000" dist="38100" dir="5400000">
              <a:srgbClr val="000000">
                <a:alpha val="8000"/>
              </a:srgbClr>
            </a:outerShdw>
          </a:effectLst>
        </p:spPr>
      </p:sp>
      <p:sp>
        <p:nvSpPr>
          <p:cNvPr id="11" name="Shape 9"/>
          <p:cNvSpPr/>
          <p:nvPr/>
        </p:nvSpPr>
        <p:spPr>
          <a:xfrm>
            <a:off x="4736592" y="2743200"/>
            <a:ext cx="457200" cy="64008"/>
          </a:xfrm>
          <a:prstGeom prst="rect">
            <a:avLst/>
          </a:prstGeom>
          <a:solidFill>
            <a:srgbClr val="C9A84C"/>
          </a:solidFill>
          <a:ln/>
        </p:spPr>
      </p:sp>
      <p:sp>
        <p:nvSpPr>
          <p:cNvPr id="12" name="Text 10"/>
          <p:cNvSpPr/>
          <p:nvPr/>
        </p:nvSpPr>
        <p:spPr>
          <a:xfrm>
            <a:off x="4736592" y="2880360"/>
            <a:ext cx="2926080" cy="457200"/>
          </a:xfrm>
          <a:prstGeom prst="rect">
            <a:avLst/>
          </a:prstGeom>
          <a:noFill/>
          <a:ln/>
        </p:spPr>
        <p:txBody>
          <a:bodyPr wrap="square" lIns="0" tIns="0" rIns="0" bIns="0" rtlCol="0" anchor="ctr"/>
          <a:lstStyle/>
          <a:p>
            <a:pPr indent="0" marL="0">
              <a:buNone/>
            </a:pPr>
            <a:r>
              <a:rPr lang="en-US" sz="2000" b="1" dirty="0">
                <a:solidFill>
                  <a:srgbClr val="0D1B3E"/>
                </a:solidFill>
                <a:latin typeface="Cormorant Garamond" pitchFamily="34" charset="0"/>
                <a:ea typeface="Cormorant Garamond" pitchFamily="34" charset="-122"/>
                <a:cs typeface="Cormorant Garamond" pitchFamily="34" charset="-120"/>
              </a:rPr>
              <a:t>Golden ratio</a:t>
            </a:r>
            <a:endParaRPr lang="en-US" sz="2000" dirty="0"/>
          </a:p>
        </p:txBody>
      </p:sp>
      <p:sp>
        <p:nvSpPr>
          <p:cNvPr id="13" name="Text 11"/>
          <p:cNvSpPr/>
          <p:nvPr/>
        </p:nvSpPr>
        <p:spPr>
          <a:xfrm>
            <a:off x="4736592" y="3310128"/>
            <a:ext cx="2926080" cy="320040"/>
          </a:xfrm>
          <a:prstGeom prst="rect">
            <a:avLst/>
          </a:prstGeom>
          <a:noFill/>
          <a:ln/>
        </p:spPr>
        <p:txBody>
          <a:bodyPr wrap="square" lIns="0" tIns="0" rIns="0" bIns="0" rtlCol="0" anchor="ctr"/>
          <a:lstStyle/>
          <a:p>
            <a:pPr indent="0" marL="0">
              <a:buNone/>
            </a:pPr>
            <a:r>
              <a:rPr lang="en-US" sz="1150" i="1" dirty="0">
                <a:solidFill>
                  <a:srgbClr val="C9A84C"/>
                </a:solidFill>
                <a:latin typeface="Calibri" pitchFamily="34" charset="0"/>
                <a:ea typeface="Calibri" pitchFamily="34" charset="-122"/>
                <a:cs typeface="Calibri" pitchFamily="34" charset="-120"/>
              </a:rPr>
              <a:t>phi = 1.618</a:t>
            </a:r>
            <a:endParaRPr lang="en-US" sz="1150" dirty="0"/>
          </a:p>
        </p:txBody>
      </p:sp>
      <p:sp>
        <p:nvSpPr>
          <p:cNvPr id="14" name="Text 12"/>
          <p:cNvSpPr/>
          <p:nvPr/>
        </p:nvSpPr>
        <p:spPr>
          <a:xfrm>
            <a:off x="4736592" y="3703320"/>
            <a:ext cx="2926080" cy="1965960"/>
          </a:xfrm>
          <a:prstGeom prst="rect">
            <a:avLst/>
          </a:prstGeom>
          <a:noFill/>
          <a:ln/>
        </p:spPr>
        <p:txBody>
          <a:bodyPr wrap="square" lIns="0" tIns="0" rIns="0" bIns="0" rtlCol="0" anchor="ctr"/>
          <a:lstStyle/>
          <a:p>
            <a:pPr indent="0" marL="0">
              <a:lnSpc>
                <a:spcPct val="125000"/>
              </a:lnSpc>
              <a:buNone/>
            </a:pPr>
            <a:r>
              <a:rPr lang="en-US" sz="1200" dirty="0">
                <a:solidFill>
                  <a:srgbClr val="3D3530"/>
                </a:solidFill>
                <a:latin typeface="Calibri" pitchFamily="34" charset="0"/>
                <a:ea typeface="Calibri" pitchFamily="34" charset="-122"/>
                <a:cs typeface="Calibri" pitchFamily="34" charset="-120"/>
              </a:rPr>
              <a:t>The globe, the wordmark column, and the type hierarchy are all sized in golden-ratio proportion to one another, the same relationship found in the Apple logo's circles.</a:t>
            </a:r>
            <a:endParaRPr lang="en-US" sz="1200" dirty="0"/>
          </a:p>
        </p:txBody>
      </p:sp>
      <p:sp>
        <p:nvSpPr>
          <p:cNvPr id="15" name="Shape 13"/>
          <p:cNvSpPr/>
          <p:nvPr/>
        </p:nvSpPr>
        <p:spPr>
          <a:xfrm>
            <a:off x="8193024" y="2423160"/>
            <a:ext cx="3520440" cy="3383280"/>
          </a:xfrm>
          <a:prstGeom prst="rect">
            <a:avLst/>
          </a:prstGeom>
          <a:solidFill>
            <a:srgbClr val="FFFFFF"/>
          </a:solidFill>
          <a:ln/>
          <a:effectLst>
            <a:outerShdw sx="100000" sy="100000" kx="0" ky="0" algn="bl" rotWithShape="0" blurRad="127000" dist="38100" dir="5400000">
              <a:srgbClr val="000000">
                <a:alpha val="8000"/>
              </a:srgbClr>
            </a:outerShdw>
          </a:effectLst>
        </p:spPr>
      </p:sp>
      <p:sp>
        <p:nvSpPr>
          <p:cNvPr id="16" name="Shape 14"/>
          <p:cNvSpPr/>
          <p:nvPr/>
        </p:nvSpPr>
        <p:spPr>
          <a:xfrm>
            <a:off x="8513064" y="2743200"/>
            <a:ext cx="457200" cy="64008"/>
          </a:xfrm>
          <a:prstGeom prst="rect">
            <a:avLst/>
          </a:prstGeom>
          <a:solidFill>
            <a:srgbClr val="C9A84C"/>
          </a:solidFill>
          <a:ln/>
        </p:spPr>
      </p:sp>
      <p:sp>
        <p:nvSpPr>
          <p:cNvPr id="17" name="Text 15"/>
          <p:cNvSpPr/>
          <p:nvPr/>
        </p:nvSpPr>
        <p:spPr>
          <a:xfrm>
            <a:off x="8513064" y="2880360"/>
            <a:ext cx="2926080" cy="457200"/>
          </a:xfrm>
          <a:prstGeom prst="rect">
            <a:avLst/>
          </a:prstGeom>
          <a:noFill/>
          <a:ln/>
        </p:spPr>
        <p:txBody>
          <a:bodyPr wrap="square" lIns="0" tIns="0" rIns="0" bIns="0" rtlCol="0" anchor="ctr"/>
          <a:lstStyle/>
          <a:p>
            <a:pPr indent="0" marL="0">
              <a:buNone/>
            </a:pPr>
            <a:r>
              <a:rPr lang="en-US" sz="2000" b="1" dirty="0">
                <a:solidFill>
                  <a:srgbClr val="0D1B3E"/>
                </a:solidFill>
                <a:latin typeface="Cormorant Garamond" pitchFamily="34" charset="0"/>
                <a:ea typeface="Cormorant Garamond" pitchFamily="34" charset="-122"/>
                <a:cs typeface="Cormorant Garamond" pitchFamily="34" charset="-120"/>
              </a:rPr>
              <a:t>Optical compensation</a:t>
            </a:r>
            <a:endParaRPr lang="en-US" sz="2000" dirty="0"/>
          </a:p>
        </p:txBody>
      </p:sp>
      <p:sp>
        <p:nvSpPr>
          <p:cNvPr id="18" name="Text 16"/>
          <p:cNvSpPr/>
          <p:nvPr/>
        </p:nvSpPr>
        <p:spPr>
          <a:xfrm>
            <a:off x="8513064" y="3310128"/>
            <a:ext cx="2926080" cy="320040"/>
          </a:xfrm>
          <a:prstGeom prst="rect">
            <a:avLst/>
          </a:prstGeom>
          <a:noFill/>
          <a:ln/>
        </p:spPr>
        <p:txBody>
          <a:bodyPr wrap="square" lIns="0" tIns="0" rIns="0" bIns="0" rtlCol="0" anchor="ctr"/>
          <a:lstStyle/>
          <a:p>
            <a:pPr indent="0" marL="0">
              <a:buNone/>
            </a:pPr>
            <a:r>
              <a:rPr lang="en-US" sz="1150" i="1" dirty="0">
                <a:solidFill>
                  <a:srgbClr val="C9A84C"/>
                </a:solidFill>
                <a:latin typeface="Calibri" pitchFamily="34" charset="0"/>
                <a:ea typeface="Calibri" pitchFamily="34" charset="-122"/>
                <a:cs typeface="Calibri" pitchFamily="34" charset="-120"/>
              </a:rPr>
              <a:t>Construction principle</a:t>
            </a:r>
            <a:endParaRPr lang="en-US" sz="1150" dirty="0"/>
          </a:p>
        </p:txBody>
      </p:sp>
      <p:sp>
        <p:nvSpPr>
          <p:cNvPr id="19" name="Text 17"/>
          <p:cNvSpPr/>
          <p:nvPr/>
        </p:nvSpPr>
        <p:spPr>
          <a:xfrm>
            <a:off x="8513064" y="3703320"/>
            <a:ext cx="2926080" cy="1965960"/>
          </a:xfrm>
          <a:prstGeom prst="rect">
            <a:avLst/>
          </a:prstGeom>
          <a:noFill/>
          <a:ln/>
        </p:spPr>
        <p:txBody>
          <a:bodyPr wrap="square" lIns="0" tIns="0" rIns="0" bIns="0" rtlCol="0" anchor="ctr"/>
          <a:lstStyle/>
          <a:p>
            <a:pPr indent="0" marL="0">
              <a:lnSpc>
                <a:spcPct val="125000"/>
              </a:lnSpc>
              <a:buNone/>
            </a:pPr>
            <a:r>
              <a:rPr lang="en-US" sz="1200" dirty="0">
                <a:solidFill>
                  <a:srgbClr val="3D3530"/>
                </a:solidFill>
                <a:latin typeface="Calibri" pitchFamily="34" charset="0"/>
                <a:ea typeface="Calibri" pitchFamily="34" charset="-122"/>
                <a:cs typeface="Calibri" pitchFamily="34" charset="-120"/>
              </a:rPr>
              <a:t>Mathematically equal elements don't look equal. Letterforms, the star's points, and the sphere's edge are all hand-adjusted so they read as balanced, not just measured as balanced.</a:t>
            </a:r>
            <a:endParaRPr lang="en-US" sz="1200" dirty="0"/>
          </a:p>
        </p:txBody>
      </p:sp>
      <p:sp>
        <p:nvSpPr>
          <p:cNvPr id="20" name="Text 18"/>
          <p:cNvSpPr/>
          <p:nvPr/>
        </p:nvSpPr>
        <p:spPr>
          <a:xfrm>
            <a:off x="11365992" y="6355080"/>
            <a:ext cx="548640" cy="274320"/>
          </a:xfrm>
          <a:prstGeom prst="rect">
            <a:avLst/>
          </a:prstGeom>
          <a:noFill/>
          <a:ln/>
        </p:spPr>
        <p:txBody>
          <a:bodyPr wrap="square" lIns="0" tIns="0" rIns="0" bIns="0" rtlCol="0" anchor="ctr"/>
          <a:lstStyle/>
          <a:p>
            <a:pPr algn="r" indent="0" marL="0">
              <a:buNone/>
            </a:pPr>
            <a:r>
              <a:rPr lang="en-US" sz="1000" dirty="0">
                <a:solidFill>
                  <a:srgbClr val="888880"/>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5EE"/>
        </a:solidFill>
      </p:bgPr>
    </p:bg>
    <p:spTree>
      <p:nvGrpSpPr>
        <p:cNvPr id="1" name=""/>
        <p:cNvGrpSpPr/>
        <p:nvPr/>
      </p:nvGrpSpPr>
      <p:grpSpPr>
        <a:xfrm>
          <a:off x="0" y="0"/>
          <a:ext cx="0" cy="0"/>
          <a:chOff x="0" y="0"/>
          <a:chExt cx="0" cy="0"/>
        </a:xfrm>
      </p:grpSpPr>
      <p:sp>
        <p:nvSpPr>
          <p:cNvPr id="2" name="Text 0"/>
          <p:cNvSpPr/>
          <p:nvPr/>
        </p:nvSpPr>
        <p:spPr>
          <a:xfrm>
            <a:off x="640080" y="411480"/>
            <a:ext cx="5486400" cy="320040"/>
          </a:xfrm>
          <a:prstGeom prst="rect">
            <a:avLst/>
          </a:prstGeom>
          <a:noFill/>
          <a:ln/>
        </p:spPr>
        <p:txBody>
          <a:bodyPr wrap="square" lIns="0" tIns="0" rIns="0" bIns="0" rtlCol="0" anchor="ctr"/>
          <a:lstStyle/>
          <a:p>
            <a:pPr indent="0" marL="0">
              <a:buNone/>
            </a:pPr>
            <a:r>
              <a:rPr lang="en-US" sz="1200" b="1" spc="300" kern="0" dirty="0">
                <a:solidFill>
                  <a:srgbClr val="C9A84C"/>
                </a:solidFill>
                <a:latin typeface="Calibri" pitchFamily="34" charset="0"/>
                <a:ea typeface="Calibri" pitchFamily="34" charset="-122"/>
                <a:cs typeface="Calibri" pitchFamily="34" charset="-120"/>
              </a:rPr>
              <a:t>THE SYSTEM</a:t>
            </a:r>
            <a:endParaRPr lang="en-US" sz="1200" dirty="0"/>
          </a:p>
        </p:txBody>
      </p:sp>
      <p:sp>
        <p:nvSpPr>
          <p:cNvPr id="3" name="Text 1"/>
          <p:cNvSpPr/>
          <p:nvPr/>
        </p:nvSpPr>
        <p:spPr>
          <a:xfrm>
            <a:off x="640080" y="777240"/>
            <a:ext cx="10881360" cy="822960"/>
          </a:xfrm>
          <a:prstGeom prst="rect">
            <a:avLst/>
          </a:prstGeom>
          <a:noFill/>
          <a:ln/>
        </p:spPr>
        <p:txBody>
          <a:bodyPr wrap="square" lIns="0" tIns="0" rIns="0" bIns="0" rtlCol="0" anchor="ctr"/>
          <a:lstStyle/>
          <a:p>
            <a:pPr indent="0" marL="0">
              <a:buNone/>
            </a:pPr>
            <a:r>
              <a:rPr lang="en-US" sz="3000" b="1" dirty="0">
                <a:solidFill>
                  <a:srgbClr val="0D1B3E"/>
                </a:solidFill>
                <a:latin typeface="Cormorant Garamond" pitchFamily="34" charset="0"/>
                <a:ea typeface="Cormorant Garamond" pitchFamily="34" charset="-122"/>
                <a:cs typeface="Cormorant Garamond" pitchFamily="34" charset="-120"/>
              </a:rPr>
              <a:t>One Mark, Four Approved Lockups</a:t>
            </a:r>
            <a:endParaRPr lang="en-US" sz="3000" dirty="0"/>
          </a:p>
        </p:txBody>
      </p:sp>
      <p:sp>
        <p:nvSpPr>
          <p:cNvPr id="4" name="Text 2"/>
          <p:cNvSpPr/>
          <p:nvPr/>
        </p:nvSpPr>
        <p:spPr>
          <a:xfrm>
            <a:off x="640080" y="1554480"/>
            <a:ext cx="10515600" cy="457200"/>
          </a:xfrm>
          <a:prstGeom prst="rect">
            <a:avLst/>
          </a:prstGeom>
          <a:noFill/>
          <a:ln/>
        </p:spPr>
        <p:txBody>
          <a:bodyPr wrap="square" lIns="0" tIns="0" rIns="0" bIns="0" rtlCol="0" anchor="ctr"/>
          <a:lstStyle/>
          <a:p>
            <a:pPr indent="0" marL="0">
              <a:buNone/>
            </a:pPr>
            <a:r>
              <a:rPr lang="en-US" sz="1400" dirty="0">
                <a:solidFill>
                  <a:srgbClr val="3D3530"/>
                </a:solidFill>
                <a:latin typeface="Calibri" pitchFamily="34" charset="0"/>
                <a:ea typeface="Calibri" pitchFamily="34" charset="-122"/>
                <a:cs typeface="Calibri" pitchFamily="34" charset="-120"/>
              </a:rPr>
              <a:t>Every application in this presentation draws from these four locked lockups. Nothing is improvised on the fly.</a:t>
            </a:r>
            <a:endParaRPr lang="en-US" sz="1400" dirty="0"/>
          </a:p>
        </p:txBody>
      </p:sp>
      <p:sp>
        <p:nvSpPr>
          <p:cNvPr id="5" name="Shape 3"/>
          <p:cNvSpPr/>
          <p:nvPr/>
        </p:nvSpPr>
        <p:spPr>
          <a:xfrm>
            <a:off x="640080" y="2240280"/>
            <a:ext cx="5394960" cy="1874520"/>
          </a:xfrm>
          <a:prstGeom prst="rect">
            <a:avLst/>
          </a:prstGeom>
          <a:solidFill>
            <a:srgbClr val="0D1B3E"/>
          </a:solidFill>
          <a:ln/>
        </p:spPr>
      </p:sp>
      <p:pic>
        <p:nvPicPr>
          <p:cNvPr id="6" name="Image 0" descr="/home/claude/polaris/assets/lockup_dark_transparent_cropped.png">    </p:cNvPr>
          <p:cNvPicPr>
            <a:picLocks noChangeAspect="1"/>
          </p:cNvPicPr>
          <p:nvPr/>
        </p:nvPicPr>
        <p:blipFill>
          <a:blip r:embed="rId1"/>
          <a:stretch>
            <a:fillRect/>
          </a:stretch>
        </p:blipFill>
        <p:spPr>
          <a:xfrm>
            <a:off x="2420244" y="2377440"/>
            <a:ext cx="1834633" cy="1600200"/>
          </a:xfrm>
          <a:prstGeom prst="rect">
            <a:avLst/>
          </a:prstGeom>
        </p:spPr>
      </p:pic>
      <p:sp>
        <p:nvSpPr>
          <p:cNvPr id="7" name="Text 4"/>
          <p:cNvSpPr/>
          <p:nvPr/>
        </p:nvSpPr>
        <p:spPr>
          <a:xfrm>
            <a:off x="640080" y="4169664"/>
            <a:ext cx="5394960" cy="274320"/>
          </a:xfrm>
          <a:prstGeom prst="rect">
            <a:avLst/>
          </a:prstGeom>
          <a:noFill/>
          <a:ln/>
        </p:spPr>
        <p:txBody>
          <a:bodyPr wrap="square" lIns="0" tIns="0" rIns="0" bIns="0" rtlCol="0" anchor="ctr"/>
          <a:lstStyle/>
          <a:p>
            <a:pPr algn="ctr" indent="0" marL="0">
              <a:buNone/>
            </a:pPr>
            <a:r>
              <a:rPr lang="en-US" sz="1100" b="1" dirty="0">
                <a:solidFill>
                  <a:srgbClr val="0D1B3E"/>
                </a:solidFill>
                <a:latin typeface="Calibri" pitchFamily="34" charset="0"/>
                <a:ea typeface="Calibri" pitchFamily="34" charset="-122"/>
                <a:cs typeface="Calibri" pitchFamily="34" charset="-120"/>
              </a:rPr>
              <a:t>Primary Horizontal - Dark</a:t>
            </a:r>
            <a:endParaRPr lang="en-US" sz="1100" dirty="0"/>
          </a:p>
        </p:txBody>
      </p:sp>
      <p:sp>
        <p:nvSpPr>
          <p:cNvPr id="8" name="Shape 5"/>
          <p:cNvSpPr/>
          <p:nvPr/>
        </p:nvSpPr>
        <p:spPr>
          <a:xfrm>
            <a:off x="6172200" y="2240280"/>
            <a:ext cx="5394960" cy="1874520"/>
          </a:xfrm>
          <a:prstGeom prst="rect">
            <a:avLst/>
          </a:prstGeom>
          <a:solidFill>
            <a:srgbClr val="F8F5EE"/>
          </a:solidFill>
          <a:ln w="12700">
            <a:solidFill>
              <a:srgbClr val="DAD4C4"/>
            </a:solidFill>
            <a:prstDash val="solid"/>
          </a:ln>
        </p:spPr>
      </p:sp>
      <p:pic>
        <p:nvPicPr>
          <p:cNvPr id="9" name="Image 1" descr="/home/claude/polaris/assets/lockup_light_transparent_cropped.png">    </p:cNvPr>
          <p:cNvPicPr>
            <a:picLocks noChangeAspect="1"/>
          </p:cNvPicPr>
          <p:nvPr/>
        </p:nvPicPr>
        <p:blipFill>
          <a:blip r:embed="rId2"/>
          <a:stretch>
            <a:fillRect/>
          </a:stretch>
        </p:blipFill>
        <p:spPr>
          <a:xfrm>
            <a:off x="7952364" y="2377440"/>
            <a:ext cx="1834633" cy="1600200"/>
          </a:xfrm>
          <a:prstGeom prst="rect">
            <a:avLst/>
          </a:prstGeom>
        </p:spPr>
      </p:pic>
      <p:sp>
        <p:nvSpPr>
          <p:cNvPr id="10" name="Text 6"/>
          <p:cNvSpPr/>
          <p:nvPr/>
        </p:nvSpPr>
        <p:spPr>
          <a:xfrm>
            <a:off x="6172200" y="4169664"/>
            <a:ext cx="5394960" cy="274320"/>
          </a:xfrm>
          <a:prstGeom prst="rect">
            <a:avLst/>
          </a:prstGeom>
          <a:noFill/>
          <a:ln/>
        </p:spPr>
        <p:txBody>
          <a:bodyPr wrap="square" lIns="0" tIns="0" rIns="0" bIns="0" rtlCol="0" anchor="ctr"/>
          <a:lstStyle/>
          <a:p>
            <a:pPr algn="ctr" indent="0" marL="0">
              <a:buNone/>
            </a:pPr>
            <a:r>
              <a:rPr lang="en-US" sz="1100" b="1" dirty="0">
                <a:solidFill>
                  <a:srgbClr val="0D1B3E"/>
                </a:solidFill>
                <a:latin typeface="Calibri" pitchFamily="34" charset="0"/>
                <a:ea typeface="Calibri" pitchFamily="34" charset="-122"/>
                <a:cs typeface="Calibri" pitchFamily="34" charset="-120"/>
              </a:rPr>
              <a:t>Primary Horizontal - Light</a:t>
            </a:r>
            <a:endParaRPr lang="en-US" sz="1100" dirty="0"/>
          </a:p>
        </p:txBody>
      </p:sp>
      <p:sp>
        <p:nvSpPr>
          <p:cNvPr id="11" name="Shape 7"/>
          <p:cNvSpPr/>
          <p:nvPr/>
        </p:nvSpPr>
        <p:spPr>
          <a:xfrm>
            <a:off x="640080" y="4572000"/>
            <a:ext cx="2606040" cy="1874520"/>
          </a:xfrm>
          <a:prstGeom prst="rect">
            <a:avLst/>
          </a:prstGeom>
          <a:solidFill>
            <a:srgbClr val="0D1B3E"/>
          </a:solidFill>
          <a:ln/>
        </p:spPr>
      </p:sp>
      <p:pic>
        <p:nvPicPr>
          <p:cNvPr id="12" name="Image 2" descr="/home/claude/polaris/assets/icon_mark_transparent_cropped.png">    </p:cNvPr>
          <p:cNvPicPr>
            <a:picLocks noChangeAspect="1"/>
          </p:cNvPicPr>
          <p:nvPr/>
        </p:nvPicPr>
        <p:blipFill>
          <a:blip r:embed="rId3"/>
          <a:stretch>
            <a:fillRect/>
          </a:stretch>
        </p:blipFill>
        <p:spPr>
          <a:xfrm>
            <a:off x="1259862" y="4732020"/>
            <a:ext cx="1366475" cy="1554480"/>
          </a:xfrm>
          <a:prstGeom prst="rect">
            <a:avLst/>
          </a:prstGeom>
        </p:spPr>
      </p:pic>
      <p:sp>
        <p:nvSpPr>
          <p:cNvPr id="13" name="Text 8"/>
          <p:cNvSpPr/>
          <p:nvPr/>
        </p:nvSpPr>
        <p:spPr>
          <a:xfrm>
            <a:off x="640080" y="6446520"/>
            <a:ext cx="2606040" cy="274320"/>
          </a:xfrm>
          <a:prstGeom prst="rect">
            <a:avLst/>
          </a:prstGeom>
          <a:noFill/>
          <a:ln/>
        </p:spPr>
        <p:txBody>
          <a:bodyPr wrap="square" lIns="0" tIns="0" rIns="0" bIns="0" rtlCol="0" anchor="ctr"/>
          <a:lstStyle/>
          <a:p>
            <a:pPr algn="ctr" indent="0" marL="0">
              <a:buNone/>
            </a:pPr>
            <a:r>
              <a:rPr lang="en-US" sz="1050" b="1" dirty="0">
                <a:solidFill>
                  <a:srgbClr val="0D1B3E"/>
                </a:solidFill>
                <a:latin typeface="Calibri" pitchFamily="34" charset="0"/>
                <a:ea typeface="Calibri" pitchFamily="34" charset="-122"/>
                <a:cs typeface="Calibri" pitchFamily="34" charset="-120"/>
              </a:rPr>
              <a:t>Icon Mark</a:t>
            </a:r>
            <a:endParaRPr lang="en-US" sz="1050" dirty="0"/>
          </a:p>
        </p:txBody>
      </p:sp>
      <p:sp>
        <p:nvSpPr>
          <p:cNvPr id="14" name="Shape 9"/>
          <p:cNvSpPr/>
          <p:nvPr/>
        </p:nvSpPr>
        <p:spPr>
          <a:xfrm>
            <a:off x="3383280" y="4572000"/>
            <a:ext cx="2606040" cy="1874520"/>
          </a:xfrm>
          <a:prstGeom prst="rect">
            <a:avLst/>
          </a:prstGeom>
          <a:solidFill>
            <a:srgbClr val="0D1B3E"/>
          </a:solidFill>
          <a:ln/>
        </p:spPr>
      </p:sp>
      <p:pic>
        <p:nvPicPr>
          <p:cNvPr id="15" name="Image 3" descr="/home/claude/polaris/assets/lockup_stacked_transparent_cropped.png">    </p:cNvPr>
          <p:cNvPicPr>
            <a:picLocks noChangeAspect="1"/>
          </p:cNvPicPr>
          <p:nvPr/>
        </p:nvPicPr>
        <p:blipFill>
          <a:blip r:embed="rId4"/>
          <a:stretch>
            <a:fillRect/>
          </a:stretch>
        </p:blipFill>
        <p:spPr>
          <a:xfrm>
            <a:off x="4113011" y="4686300"/>
            <a:ext cx="1146578" cy="1645920"/>
          </a:xfrm>
          <a:prstGeom prst="rect">
            <a:avLst/>
          </a:prstGeom>
        </p:spPr>
      </p:pic>
      <p:sp>
        <p:nvSpPr>
          <p:cNvPr id="16" name="Text 10"/>
          <p:cNvSpPr/>
          <p:nvPr/>
        </p:nvSpPr>
        <p:spPr>
          <a:xfrm>
            <a:off x="3383280" y="6446520"/>
            <a:ext cx="2606040" cy="274320"/>
          </a:xfrm>
          <a:prstGeom prst="rect">
            <a:avLst/>
          </a:prstGeom>
          <a:noFill/>
          <a:ln/>
        </p:spPr>
        <p:txBody>
          <a:bodyPr wrap="square" lIns="0" tIns="0" rIns="0" bIns="0" rtlCol="0" anchor="ctr"/>
          <a:lstStyle/>
          <a:p>
            <a:pPr algn="ctr" indent="0" marL="0">
              <a:buNone/>
            </a:pPr>
            <a:r>
              <a:rPr lang="en-US" sz="1050" b="1" dirty="0">
                <a:solidFill>
                  <a:srgbClr val="0D1B3E"/>
                </a:solidFill>
                <a:latin typeface="Calibri" pitchFamily="34" charset="0"/>
                <a:ea typeface="Calibri" pitchFamily="34" charset="-122"/>
                <a:cs typeface="Calibri" pitchFamily="34" charset="-120"/>
              </a:rPr>
              <a:t>Stacked</a:t>
            </a:r>
            <a:endParaRPr lang="en-US" sz="1050" dirty="0"/>
          </a:p>
        </p:txBody>
      </p:sp>
      <p:sp>
        <p:nvSpPr>
          <p:cNvPr id="17" name="Text 11"/>
          <p:cNvSpPr/>
          <p:nvPr/>
        </p:nvSpPr>
        <p:spPr>
          <a:xfrm>
            <a:off x="6263640" y="4709160"/>
            <a:ext cx="5303520" cy="1554480"/>
          </a:xfrm>
          <a:prstGeom prst="rect">
            <a:avLst/>
          </a:prstGeom>
          <a:noFill/>
          <a:ln/>
        </p:spPr>
        <p:txBody>
          <a:bodyPr wrap="square" lIns="0" tIns="0" rIns="0" bIns="0" rtlCol="0" anchor="ctr"/>
          <a:lstStyle/>
          <a:p>
            <a:pPr indent="0" marL="0">
              <a:lnSpc>
                <a:spcPct val="130000"/>
              </a:lnSpc>
              <a:buNone/>
            </a:pPr>
            <a:r>
              <a:rPr lang="en-US" sz="1300" i="1" dirty="0">
                <a:solidFill>
                  <a:srgbClr val="3D3530"/>
                </a:solidFill>
                <a:latin typeface="Cormorant Garamond" pitchFamily="34" charset="0"/>
                <a:ea typeface="Cormorant Garamond" pitchFamily="34" charset="-122"/>
                <a:cs typeface="Cormorant Garamond" pitchFamily="34" charset="-120"/>
              </a:rPr>
              <a:t>Each lockup carries the same construction logic. The globe and star are always equal to the height of the wordmark beside or above it.</a:t>
            </a:r>
            <a:endParaRPr lang="en-US" sz="1300" dirty="0"/>
          </a:p>
        </p:txBody>
      </p:sp>
      <p:sp>
        <p:nvSpPr>
          <p:cNvPr id="18" name="Text 12"/>
          <p:cNvSpPr/>
          <p:nvPr/>
        </p:nvSpPr>
        <p:spPr>
          <a:xfrm>
            <a:off x="11365992" y="6355080"/>
            <a:ext cx="548640" cy="274320"/>
          </a:xfrm>
          <a:prstGeom prst="rect">
            <a:avLst/>
          </a:prstGeom>
          <a:noFill/>
          <a:ln/>
        </p:spPr>
        <p:txBody>
          <a:bodyPr wrap="square" lIns="0" tIns="0" rIns="0" bIns="0" rtlCol="0" anchor="ctr"/>
          <a:lstStyle/>
          <a:p>
            <a:pPr algn="r" indent="0" marL="0">
              <a:buNone/>
            </a:pPr>
            <a:r>
              <a:rPr lang="en-US" sz="1000" dirty="0">
                <a:solidFill>
                  <a:srgbClr val="888880"/>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3E"/>
        </a:solidFill>
      </p:bgPr>
    </p:bg>
    <p:spTree>
      <p:nvGrpSpPr>
        <p:cNvPr id="1" name=""/>
        <p:cNvGrpSpPr/>
        <p:nvPr/>
      </p:nvGrpSpPr>
      <p:grpSpPr>
        <a:xfrm>
          <a:off x="0" y="0"/>
          <a:ext cx="0" cy="0"/>
          <a:chOff x="0" y="0"/>
          <a:chExt cx="0" cy="0"/>
        </a:xfrm>
      </p:grpSpPr>
      <p:pic>
        <p:nvPicPr>
          <p:cNvPr id="2" name="Image 0" descr="/home/claude/polaris/assets/icon_mark_transparent_cropped.png">    </p:cNvPr>
          <p:cNvPicPr>
            <a:picLocks noChangeAspect="1"/>
          </p:cNvPicPr>
          <p:nvPr/>
        </p:nvPicPr>
        <p:blipFill>
          <a:blip r:embed="rId1"/>
          <a:stretch>
            <a:fillRect/>
          </a:stretch>
        </p:blipFill>
        <p:spPr>
          <a:xfrm>
            <a:off x="5591556" y="1325880"/>
            <a:ext cx="1005840" cy="1144227"/>
          </a:xfrm>
          <a:prstGeom prst="rect">
            <a:avLst/>
          </a:prstGeom>
        </p:spPr>
      </p:pic>
      <p:sp>
        <p:nvSpPr>
          <p:cNvPr id="3" name="Text 0"/>
          <p:cNvSpPr/>
          <p:nvPr/>
        </p:nvSpPr>
        <p:spPr>
          <a:xfrm>
            <a:off x="0" y="2743200"/>
            <a:ext cx="12188952" cy="731520"/>
          </a:xfrm>
          <a:prstGeom prst="rect">
            <a:avLst/>
          </a:prstGeom>
          <a:noFill/>
          <a:ln/>
        </p:spPr>
        <p:txBody>
          <a:bodyPr wrap="square" lIns="0" tIns="0" rIns="0" bIns="0" rtlCol="0" anchor="ctr"/>
          <a:lstStyle/>
          <a:p>
            <a:pPr algn="ctr" indent="0" marL="0">
              <a:buNone/>
            </a:pPr>
            <a:r>
              <a:rPr lang="en-US" sz="3200" b="1" dirty="0">
                <a:solidFill>
                  <a:srgbClr val="F8F5EE"/>
                </a:solidFill>
                <a:latin typeface="Cormorant Garamond" pitchFamily="34" charset="0"/>
                <a:ea typeface="Cormorant Garamond" pitchFamily="34" charset="-122"/>
                <a:cs typeface="Cormorant Garamond" pitchFamily="34" charset="-120"/>
              </a:rPr>
              <a:t>Seeing it in the world</a:t>
            </a:r>
            <a:endParaRPr lang="en-US" sz="3200" dirty="0"/>
          </a:p>
        </p:txBody>
      </p:sp>
      <p:sp>
        <p:nvSpPr>
          <p:cNvPr id="4" name="Text 1"/>
          <p:cNvSpPr/>
          <p:nvPr/>
        </p:nvSpPr>
        <p:spPr>
          <a:xfrm>
            <a:off x="1645920" y="3611880"/>
            <a:ext cx="8869680" cy="1097280"/>
          </a:xfrm>
          <a:prstGeom prst="rect">
            <a:avLst/>
          </a:prstGeom>
          <a:noFill/>
          <a:ln/>
        </p:spPr>
        <p:txBody>
          <a:bodyPr wrap="square" lIns="0" tIns="0" rIns="0" bIns="0" rtlCol="0" anchor="ctr"/>
          <a:lstStyle/>
          <a:p>
            <a:pPr algn="ctr" indent="0" marL="0">
              <a:lnSpc>
                <a:spcPct val="130000"/>
              </a:lnSpc>
              <a:buNone/>
            </a:pPr>
            <a:r>
              <a:rPr lang="en-US" sz="1400" i="1" dirty="0">
                <a:solidFill>
                  <a:srgbClr val="C7CFE6"/>
                </a:solidFill>
                <a:latin typeface="Cormorant Garamond" pitchFamily="34" charset="0"/>
                <a:ea typeface="Cormorant Garamond" pitchFamily="34" charset="-122"/>
                <a:cs typeface="Cormorant Garamond" pitchFamily="34" charset="-120"/>
              </a:rPr>
              <a:t>A logo is only as good as its weakest application. The following pages show Polaris exactly as a student, a parent, or a partner institution would actually encounter it.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5EE"/>
        </a:solidFill>
      </p:bgPr>
    </p:bg>
    <p:spTree>
      <p:nvGrpSpPr>
        <p:cNvPr id="1" name=""/>
        <p:cNvGrpSpPr/>
        <p:nvPr/>
      </p:nvGrpSpPr>
      <p:grpSpPr>
        <a:xfrm>
          <a:off x="0" y="0"/>
          <a:ext cx="0" cy="0"/>
          <a:chOff x="0" y="0"/>
          <a:chExt cx="0" cy="0"/>
        </a:xfrm>
      </p:grpSpPr>
      <p:sp>
        <p:nvSpPr>
          <p:cNvPr id="2" name="Text 0"/>
          <p:cNvSpPr/>
          <p:nvPr/>
        </p:nvSpPr>
        <p:spPr>
          <a:xfrm>
            <a:off x="640080" y="411480"/>
            <a:ext cx="5486400" cy="320040"/>
          </a:xfrm>
          <a:prstGeom prst="rect">
            <a:avLst/>
          </a:prstGeom>
          <a:noFill/>
          <a:ln/>
        </p:spPr>
        <p:txBody>
          <a:bodyPr wrap="square" lIns="0" tIns="0" rIns="0" bIns="0" rtlCol="0" anchor="ctr"/>
          <a:lstStyle/>
          <a:p>
            <a:pPr indent="0" marL="0">
              <a:buNone/>
            </a:pPr>
            <a:r>
              <a:rPr lang="en-US" sz="1200" b="1" spc="300" kern="0" dirty="0">
                <a:solidFill>
                  <a:srgbClr val="C9A84C"/>
                </a:solidFill>
                <a:latin typeface="Calibri" pitchFamily="34" charset="0"/>
                <a:ea typeface="Calibri" pitchFamily="34" charset="-122"/>
                <a:cs typeface="Calibri" pitchFamily="34" charset="-120"/>
              </a:rPr>
              <a:t>DIGITAL - THE FUNNEL STARTS HERE</a:t>
            </a:r>
            <a:endParaRPr lang="en-US" sz="1200" dirty="0"/>
          </a:p>
        </p:txBody>
      </p:sp>
      <p:sp>
        <p:nvSpPr>
          <p:cNvPr id="3" name="Text 1"/>
          <p:cNvSpPr/>
          <p:nvPr/>
        </p:nvSpPr>
        <p:spPr>
          <a:xfrm>
            <a:off x="640080" y="749808"/>
            <a:ext cx="10881360" cy="685800"/>
          </a:xfrm>
          <a:prstGeom prst="rect">
            <a:avLst/>
          </a:prstGeom>
          <a:noFill/>
          <a:ln/>
        </p:spPr>
        <p:txBody>
          <a:bodyPr wrap="square" lIns="0" tIns="0" rIns="0" bIns="0" rtlCol="0" anchor="ctr"/>
          <a:lstStyle/>
          <a:p>
            <a:pPr indent="0" marL="0">
              <a:buNone/>
            </a:pPr>
            <a:r>
              <a:rPr lang="en-US" sz="2800" b="1" dirty="0">
                <a:solidFill>
                  <a:srgbClr val="0D1B3E"/>
                </a:solidFill>
                <a:latin typeface="Cormorant Garamond" pitchFamily="34" charset="0"/>
                <a:ea typeface="Cormorant Garamond" pitchFamily="34" charset="-122"/>
                <a:cs typeface="Cormorant Garamond" pitchFamily="34" charset="-120"/>
              </a:rPr>
              <a:t>Digital</a:t>
            </a:r>
            <a:endParaRPr lang="en-US" sz="2800" dirty="0"/>
          </a:p>
        </p:txBody>
      </p:sp>
      <p:sp>
        <p:nvSpPr>
          <p:cNvPr id="4" name="Text 2"/>
          <p:cNvSpPr/>
          <p:nvPr/>
        </p:nvSpPr>
        <p:spPr>
          <a:xfrm>
            <a:off x="640080" y="1417320"/>
            <a:ext cx="5029200" cy="1463040"/>
          </a:xfrm>
          <a:prstGeom prst="rect">
            <a:avLst/>
          </a:prstGeom>
          <a:noFill/>
          <a:ln/>
        </p:spPr>
        <p:txBody>
          <a:bodyPr wrap="square" lIns="0" tIns="0" rIns="0" bIns="0" rtlCol="0" anchor="ctr"/>
          <a:lstStyle/>
          <a:p>
            <a:pPr indent="0" marL="0">
              <a:lnSpc>
                <a:spcPct val="130000"/>
              </a:lnSpc>
              <a:buNone/>
            </a:pPr>
            <a:r>
              <a:rPr lang="en-US" sz="1350" dirty="0">
                <a:solidFill>
                  <a:srgbClr val="3D3530"/>
                </a:solidFill>
                <a:latin typeface="Calibri" pitchFamily="34" charset="0"/>
                <a:ea typeface="Calibri" pitchFamily="34" charset="-122"/>
                <a:cs typeface="Calibri" pitchFamily="34" charset="-120"/>
              </a:rPr>
              <a:t>Most students will meet Polaris online before anywhere else, through a search, a shared link, a social bio. The homepage has to make the brand's full promise legible in the first five seconds of a scroll.</a:t>
            </a:r>
            <a:endParaRPr lang="en-US" sz="1350" dirty="0"/>
          </a:p>
        </p:txBody>
      </p:sp>
      <p:sp>
        <p:nvSpPr>
          <p:cNvPr id="5" name="Shape 3"/>
          <p:cNvSpPr/>
          <p:nvPr/>
        </p:nvSpPr>
        <p:spPr>
          <a:xfrm>
            <a:off x="640080" y="5074920"/>
            <a:ext cx="5029200" cy="1417320"/>
          </a:xfrm>
          <a:prstGeom prst="rect">
            <a:avLst/>
          </a:prstGeom>
          <a:solidFill>
            <a:srgbClr val="0D1B3E"/>
          </a:solidFill>
          <a:ln/>
        </p:spPr>
      </p:sp>
      <p:sp>
        <p:nvSpPr>
          <p:cNvPr id="6" name="Text 4"/>
          <p:cNvSpPr/>
          <p:nvPr/>
        </p:nvSpPr>
        <p:spPr>
          <a:xfrm>
            <a:off x="868680" y="5212080"/>
            <a:ext cx="4572000" cy="274320"/>
          </a:xfrm>
          <a:prstGeom prst="rect">
            <a:avLst/>
          </a:prstGeom>
          <a:noFill/>
          <a:ln/>
        </p:spPr>
        <p:txBody>
          <a:bodyPr wrap="square" lIns="0" tIns="0" rIns="0" bIns="0" rtlCol="0" anchor="ctr"/>
          <a:lstStyle/>
          <a:p>
            <a:pPr indent="0" marL="0">
              <a:buNone/>
            </a:pPr>
            <a:r>
              <a:rPr lang="en-US" sz="1000" b="1" spc="200" kern="0" dirty="0">
                <a:solidFill>
                  <a:srgbClr val="C9A84C"/>
                </a:solidFill>
                <a:latin typeface="Calibri" pitchFamily="34" charset="0"/>
                <a:ea typeface="Calibri" pitchFamily="34" charset="-122"/>
                <a:cs typeface="Calibri" pitchFamily="34" charset="-120"/>
              </a:rPr>
              <a:t>WHY THIS WORKS</a:t>
            </a:r>
            <a:endParaRPr lang="en-US" sz="1000" dirty="0"/>
          </a:p>
        </p:txBody>
      </p:sp>
      <p:sp>
        <p:nvSpPr>
          <p:cNvPr id="7" name="Text 5"/>
          <p:cNvSpPr/>
          <p:nvPr/>
        </p:nvSpPr>
        <p:spPr>
          <a:xfrm>
            <a:off x="868680" y="5486400"/>
            <a:ext cx="4572000" cy="914400"/>
          </a:xfrm>
          <a:prstGeom prst="rect">
            <a:avLst/>
          </a:prstGeom>
          <a:noFill/>
          <a:ln/>
        </p:spPr>
        <p:txBody>
          <a:bodyPr wrap="square" lIns="0" tIns="0" rIns="0" bIns="0" rtlCol="0" anchor="ctr"/>
          <a:lstStyle/>
          <a:p>
            <a:pPr indent="0" marL="0">
              <a:lnSpc>
                <a:spcPct val="120000"/>
              </a:lnSpc>
              <a:buNone/>
            </a:pPr>
            <a:r>
              <a:rPr lang="en-US" sz="1200" i="1" dirty="0">
                <a:solidFill>
                  <a:srgbClr val="F8F5EE"/>
                </a:solidFill>
                <a:latin typeface="Cormorant Garamond" pitchFamily="34" charset="0"/>
                <a:ea typeface="Cormorant Garamond" pitchFamily="34" charset="-122"/>
                <a:cs typeface="Cormorant Garamond" pitchFamily="34" charset="-120"/>
              </a:rPr>
              <a:t>The hero pairs the tagline's exact wording, 'Discover the world.', with the large-format globe mark, while the three pillar cards beneath translate the brand's own messaging pillars directly into the page structure.</a:t>
            </a:r>
            <a:endParaRPr lang="en-US" sz="1200" dirty="0"/>
          </a:p>
        </p:txBody>
      </p:sp>
      <p:pic>
        <p:nvPicPr>
          <p:cNvPr id="8" name="Image 0" descr="/home/claude/polaris/mockups/website.jpg">    </p:cNvPr>
          <p:cNvPicPr>
            <a:picLocks noChangeAspect="1"/>
          </p:cNvPicPr>
          <p:nvPr/>
        </p:nvPicPr>
        <p:blipFill>
          <a:blip r:embed="rId1"/>
          <a:stretch>
            <a:fillRect/>
          </a:stretch>
        </p:blipFill>
        <p:spPr>
          <a:xfrm>
            <a:off x="6172200" y="1996440"/>
            <a:ext cx="5852160" cy="3962400"/>
          </a:xfrm>
          <a:prstGeom prst="rect">
            <a:avLst/>
          </a:prstGeom>
          <a:effectLst>
            <a:outerShdw sx="100000" sy="100000" kx="0" ky="0" algn="bl" rotWithShape="0" blurRad="177800" dist="50800" dir="5400000">
              <a:srgbClr val="000000">
                <a:alpha val="22000"/>
              </a:srgbClr>
            </a:outerShdw>
          </a:effectLst>
        </p:spPr>
      </p:pic>
      <p:sp>
        <p:nvSpPr>
          <p:cNvPr id="9" name="Text 6"/>
          <p:cNvSpPr/>
          <p:nvPr/>
        </p:nvSpPr>
        <p:spPr>
          <a:xfrm>
            <a:off x="11365992" y="6355080"/>
            <a:ext cx="548640" cy="274320"/>
          </a:xfrm>
          <a:prstGeom prst="rect">
            <a:avLst/>
          </a:prstGeom>
          <a:noFill/>
          <a:ln/>
        </p:spPr>
        <p:txBody>
          <a:bodyPr wrap="square" lIns="0" tIns="0" rIns="0" bIns="0" rtlCol="0" anchor="ctr"/>
          <a:lstStyle/>
          <a:p>
            <a:pPr algn="r" indent="0" marL="0">
              <a:buNone/>
            </a:pPr>
            <a:r>
              <a:rPr lang="en-US" sz="1000" dirty="0">
                <a:solidFill>
                  <a:srgbClr val="888880"/>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5EE"/>
        </a:solidFill>
      </p:bgPr>
    </p:bg>
    <p:spTree>
      <p:nvGrpSpPr>
        <p:cNvPr id="1" name=""/>
        <p:cNvGrpSpPr/>
        <p:nvPr/>
      </p:nvGrpSpPr>
      <p:grpSpPr>
        <a:xfrm>
          <a:off x="0" y="0"/>
          <a:ext cx="0" cy="0"/>
          <a:chOff x="0" y="0"/>
          <a:chExt cx="0" cy="0"/>
        </a:xfrm>
      </p:grpSpPr>
      <p:sp>
        <p:nvSpPr>
          <p:cNvPr id="2" name="Text 0"/>
          <p:cNvSpPr/>
          <p:nvPr/>
        </p:nvSpPr>
        <p:spPr>
          <a:xfrm>
            <a:off x="640080" y="411480"/>
            <a:ext cx="5486400" cy="320040"/>
          </a:xfrm>
          <a:prstGeom prst="rect">
            <a:avLst/>
          </a:prstGeom>
          <a:noFill/>
          <a:ln/>
        </p:spPr>
        <p:txBody>
          <a:bodyPr wrap="square" lIns="0" tIns="0" rIns="0" bIns="0" rtlCol="0" anchor="ctr"/>
          <a:lstStyle/>
          <a:p>
            <a:pPr indent="0" marL="0">
              <a:buNone/>
            </a:pPr>
            <a:r>
              <a:rPr lang="en-US" sz="1200" b="1" spc="300" kern="0" dirty="0">
                <a:solidFill>
                  <a:srgbClr val="C9A84C"/>
                </a:solidFill>
                <a:latin typeface="Calibri" pitchFamily="34" charset="0"/>
                <a:ea typeface="Calibri" pitchFamily="34" charset="-122"/>
                <a:cs typeface="Calibri" pitchFamily="34" charset="-120"/>
              </a:rPr>
              <a:t>PRINT - INSTITUTIONAL TRUST</a:t>
            </a:r>
            <a:endParaRPr lang="en-US" sz="1200" dirty="0"/>
          </a:p>
        </p:txBody>
      </p:sp>
      <p:sp>
        <p:nvSpPr>
          <p:cNvPr id="3" name="Text 1"/>
          <p:cNvSpPr/>
          <p:nvPr/>
        </p:nvSpPr>
        <p:spPr>
          <a:xfrm>
            <a:off x="640080" y="749808"/>
            <a:ext cx="10881360" cy="685800"/>
          </a:xfrm>
          <a:prstGeom prst="rect">
            <a:avLst/>
          </a:prstGeom>
          <a:noFill/>
          <a:ln/>
        </p:spPr>
        <p:txBody>
          <a:bodyPr wrap="square" lIns="0" tIns="0" rIns="0" bIns="0" rtlCol="0" anchor="ctr"/>
          <a:lstStyle/>
          <a:p>
            <a:pPr indent="0" marL="0">
              <a:buNone/>
            </a:pPr>
            <a:r>
              <a:rPr lang="en-US" sz="2800" b="1" dirty="0">
                <a:solidFill>
                  <a:srgbClr val="0D1B3E"/>
                </a:solidFill>
                <a:latin typeface="Cormorant Garamond" pitchFamily="34" charset="0"/>
                <a:ea typeface="Cormorant Garamond" pitchFamily="34" charset="-122"/>
                <a:cs typeface="Cormorant Garamond" pitchFamily="34" charset="-120"/>
              </a:rPr>
              <a:t>The Letterhead</a:t>
            </a:r>
            <a:endParaRPr lang="en-US" sz="2800" dirty="0"/>
          </a:p>
        </p:txBody>
      </p:sp>
      <p:sp>
        <p:nvSpPr>
          <p:cNvPr id="4" name="Text 2"/>
          <p:cNvSpPr/>
          <p:nvPr/>
        </p:nvSpPr>
        <p:spPr>
          <a:xfrm>
            <a:off x="640080" y="1417320"/>
            <a:ext cx="5029200" cy="1463040"/>
          </a:xfrm>
          <a:prstGeom prst="rect">
            <a:avLst/>
          </a:prstGeom>
          <a:noFill/>
          <a:ln/>
        </p:spPr>
        <p:txBody>
          <a:bodyPr wrap="square" lIns="0" tIns="0" rIns="0" bIns="0" rtlCol="0" anchor="ctr"/>
          <a:lstStyle/>
          <a:p>
            <a:pPr indent="0" marL="0">
              <a:lnSpc>
                <a:spcPct val="130000"/>
              </a:lnSpc>
              <a:buNone/>
            </a:pPr>
            <a:r>
              <a:rPr lang="en-US" sz="1350" dirty="0">
                <a:solidFill>
                  <a:srgbClr val="3D3530"/>
                </a:solidFill>
                <a:latin typeface="Calibri" pitchFamily="34" charset="0"/>
                <a:ea typeface="Calibri" pitchFamily="34" charset="-122"/>
                <a:cs typeface="Calibri" pitchFamily="34" charset="-120"/>
              </a:rPr>
              <a:t>A formal acceptance letter, a fee breakdown, a partnership agreement: these are the documents where Polaris has to look like an agency a university or a parent can trust with real money and a real future.</a:t>
            </a:r>
            <a:endParaRPr lang="en-US" sz="1350" dirty="0"/>
          </a:p>
        </p:txBody>
      </p:sp>
      <p:sp>
        <p:nvSpPr>
          <p:cNvPr id="5" name="Shape 3"/>
          <p:cNvSpPr/>
          <p:nvPr/>
        </p:nvSpPr>
        <p:spPr>
          <a:xfrm>
            <a:off x="640080" y="5074920"/>
            <a:ext cx="5029200" cy="1417320"/>
          </a:xfrm>
          <a:prstGeom prst="rect">
            <a:avLst/>
          </a:prstGeom>
          <a:solidFill>
            <a:srgbClr val="0D1B3E"/>
          </a:solidFill>
          <a:ln/>
        </p:spPr>
      </p:sp>
      <p:sp>
        <p:nvSpPr>
          <p:cNvPr id="6" name="Text 4"/>
          <p:cNvSpPr/>
          <p:nvPr/>
        </p:nvSpPr>
        <p:spPr>
          <a:xfrm>
            <a:off x="868680" y="5212080"/>
            <a:ext cx="4572000" cy="274320"/>
          </a:xfrm>
          <a:prstGeom prst="rect">
            <a:avLst/>
          </a:prstGeom>
          <a:noFill/>
          <a:ln/>
        </p:spPr>
        <p:txBody>
          <a:bodyPr wrap="square" lIns="0" tIns="0" rIns="0" bIns="0" rtlCol="0" anchor="ctr"/>
          <a:lstStyle/>
          <a:p>
            <a:pPr indent="0" marL="0">
              <a:buNone/>
            </a:pPr>
            <a:r>
              <a:rPr lang="en-US" sz="1000" b="1" spc="200" kern="0" dirty="0">
                <a:solidFill>
                  <a:srgbClr val="C9A84C"/>
                </a:solidFill>
                <a:latin typeface="Calibri" pitchFamily="34" charset="0"/>
                <a:ea typeface="Calibri" pitchFamily="34" charset="-122"/>
                <a:cs typeface="Calibri" pitchFamily="34" charset="-120"/>
              </a:rPr>
              <a:t>WHY THIS WORKS</a:t>
            </a:r>
            <a:endParaRPr lang="en-US" sz="1000" dirty="0"/>
          </a:p>
        </p:txBody>
      </p:sp>
      <p:sp>
        <p:nvSpPr>
          <p:cNvPr id="7" name="Text 5"/>
          <p:cNvSpPr/>
          <p:nvPr/>
        </p:nvSpPr>
        <p:spPr>
          <a:xfrm>
            <a:off x="868680" y="5486400"/>
            <a:ext cx="4572000" cy="914400"/>
          </a:xfrm>
          <a:prstGeom prst="rect">
            <a:avLst/>
          </a:prstGeom>
          <a:noFill/>
          <a:ln/>
        </p:spPr>
        <p:txBody>
          <a:bodyPr wrap="square" lIns="0" tIns="0" rIns="0" bIns="0" rtlCol="0" anchor="ctr"/>
          <a:lstStyle/>
          <a:p>
            <a:pPr indent="0" marL="0">
              <a:lnSpc>
                <a:spcPct val="120000"/>
              </a:lnSpc>
              <a:buNone/>
            </a:pPr>
            <a:r>
              <a:rPr lang="en-US" sz="1200" i="1" dirty="0">
                <a:solidFill>
                  <a:srgbClr val="F8F5EE"/>
                </a:solidFill>
                <a:latin typeface="Cormorant Garamond" pitchFamily="34" charset="0"/>
                <a:ea typeface="Cormorant Garamond" pitchFamily="34" charset="-122"/>
                <a:cs typeface="Cormorant Garamond" pitchFamily="34" charset="-120"/>
              </a:rPr>
              <a:t>Icon mark, address block, and a closing tagline rule frame a page that could sit beside any embassy or university's own letterhead, exactly the institutional register the brand voice calls for.</a:t>
            </a:r>
            <a:endParaRPr lang="en-US" sz="1200" dirty="0"/>
          </a:p>
        </p:txBody>
      </p:sp>
      <p:pic>
        <p:nvPicPr>
          <p:cNvPr id="8" name="Image 0" descr="/home/claude/polaris/mockups/letterhead.jpg">    </p:cNvPr>
          <p:cNvPicPr>
            <a:picLocks noChangeAspect="1"/>
          </p:cNvPicPr>
          <p:nvPr/>
        </p:nvPicPr>
        <p:blipFill>
          <a:blip r:embed="rId1"/>
          <a:stretch>
            <a:fillRect/>
          </a:stretch>
        </p:blipFill>
        <p:spPr>
          <a:xfrm>
            <a:off x="6903720" y="1371600"/>
            <a:ext cx="4389120" cy="5212080"/>
          </a:xfrm>
          <a:prstGeom prst="rect">
            <a:avLst/>
          </a:prstGeom>
          <a:effectLst>
            <a:outerShdw sx="100000" sy="100000" kx="0" ky="0" algn="bl" rotWithShape="0" blurRad="177800" dist="50800" dir="5400000">
              <a:srgbClr val="000000">
                <a:alpha val="22000"/>
              </a:srgbClr>
            </a:outerShdw>
          </a:effectLst>
        </p:spPr>
      </p:pic>
      <p:sp>
        <p:nvSpPr>
          <p:cNvPr id="9" name="Text 6"/>
          <p:cNvSpPr/>
          <p:nvPr/>
        </p:nvSpPr>
        <p:spPr>
          <a:xfrm>
            <a:off x="11365992" y="6355080"/>
            <a:ext cx="548640" cy="274320"/>
          </a:xfrm>
          <a:prstGeom prst="rect">
            <a:avLst/>
          </a:prstGeom>
          <a:noFill/>
          <a:ln/>
        </p:spPr>
        <p:txBody>
          <a:bodyPr wrap="square" lIns="0" tIns="0" rIns="0" bIns="0" rtlCol="0" anchor="ctr"/>
          <a:lstStyle/>
          <a:p>
            <a:pPr algn="r" indent="0" marL="0">
              <a:buNone/>
            </a:pPr>
            <a:r>
              <a:rPr lang="en-US" sz="1000" dirty="0">
                <a:solidFill>
                  <a:srgbClr val="888880"/>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5EE"/>
        </a:solidFill>
      </p:bgPr>
    </p:bg>
    <p:spTree>
      <p:nvGrpSpPr>
        <p:cNvPr id="1" name=""/>
        <p:cNvGrpSpPr/>
        <p:nvPr/>
      </p:nvGrpSpPr>
      <p:grpSpPr>
        <a:xfrm>
          <a:off x="0" y="0"/>
          <a:ext cx="0" cy="0"/>
          <a:chOff x="0" y="0"/>
          <a:chExt cx="0" cy="0"/>
        </a:xfrm>
      </p:grpSpPr>
      <p:sp>
        <p:nvSpPr>
          <p:cNvPr id="2" name="Text 0"/>
          <p:cNvSpPr/>
          <p:nvPr/>
        </p:nvSpPr>
        <p:spPr>
          <a:xfrm>
            <a:off x="640080" y="411480"/>
            <a:ext cx="5486400" cy="320040"/>
          </a:xfrm>
          <a:prstGeom prst="rect">
            <a:avLst/>
          </a:prstGeom>
          <a:noFill/>
          <a:ln/>
        </p:spPr>
        <p:txBody>
          <a:bodyPr wrap="square" lIns="0" tIns="0" rIns="0" bIns="0" rtlCol="0" anchor="ctr"/>
          <a:lstStyle/>
          <a:p>
            <a:pPr indent="0" marL="0">
              <a:buNone/>
            </a:pPr>
            <a:r>
              <a:rPr lang="en-US" sz="1200" b="1" spc="300" kern="0" dirty="0">
                <a:solidFill>
                  <a:srgbClr val="C9A84C"/>
                </a:solidFill>
                <a:latin typeface="Calibri" pitchFamily="34" charset="0"/>
                <a:ea typeface="Calibri" pitchFamily="34" charset="-122"/>
                <a:cs typeface="Calibri" pitchFamily="34" charset="-120"/>
              </a:rPr>
              <a:t>PRINT - FIRST IMPRESSION</a:t>
            </a:r>
            <a:endParaRPr lang="en-US" sz="1200" dirty="0"/>
          </a:p>
        </p:txBody>
      </p:sp>
      <p:sp>
        <p:nvSpPr>
          <p:cNvPr id="3" name="Text 1"/>
          <p:cNvSpPr/>
          <p:nvPr/>
        </p:nvSpPr>
        <p:spPr>
          <a:xfrm>
            <a:off x="640080" y="749808"/>
            <a:ext cx="10881360" cy="685800"/>
          </a:xfrm>
          <a:prstGeom prst="rect">
            <a:avLst/>
          </a:prstGeom>
          <a:noFill/>
          <a:ln/>
        </p:spPr>
        <p:txBody>
          <a:bodyPr wrap="square" lIns="0" tIns="0" rIns="0" bIns="0" rtlCol="0" anchor="ctr"/>
          <a:lstStyle/>
          <a:p>
            <a:pPr indent="0" marL="0">
              <a:buNone/>
            </a:pPr>
            <a:r>
              <a:rPr lang="en-US" sz="2800" b="1" dirty="0">
                <a:solidFill>
                  <a:srgbClr val="0D1B3E"/>
                </a:solidFill>
                <a:latin typeface="Cormorant Garamond" pitchFamily="34" charset="0"/>
                <a:ea typeface="Cormorant Garamond" pitchFamily="34" charset="-122"/>
                <a:cs typeface="Cormorant Garamond" pitchFamily="34" charset="-120"/>
              </a:rPr>
              <a:t>The Business Card</a:t>
            </a:r>
            <a:endParaRPr lang="en-US" sz="2800" dirty="0"/>
          </a:p>
        </p:txBody>
      </p:sp>
      <p:sp>
        <p:nvSpPr>
          <p:cNvPr id="4" name="Text 2"/>
          <p:cNvSpPr/>
          <p:nvPr/>
        </p:nvSpPr>
        <p:spPr>
          <a:xfrm>
            <a:off x="640080" y="1417320"/>
            <a:ext cx="5029200" cy="1463040"/>
          </a:xfrm>
          <a:prstGeom prst="rect">
            <a:avLst/>
          </a:prstGeom>
          <a:noFill/>
          <a:ln/>
        </p:spPr>
        <p:txBody>
          <a:bodyPr wrap="square" lIns="0" tIns="0" rIns="0" bIns="0" rtlCol="0" anchor="ctr"/>
          <a:lstStyle/>
          <a:p>
            <a:pPr indent="0" marL="0">
              <a:lnSpc>
                <a:spcPct val="130000"/>
              </a:lnSpc>
              <a:buNone/>
            </a:pPr>
            <a:r>
              <a:rPr lang="en-US" sz="1350" dirty="0">
                <a:solidFill>
                  <a:srgbClr val="3D3530"/>
                </a:solidFill>
                <a:latin typeface="Calibri" pitchFamily="34" charset="0"/>
                <a:ea typeface="Calibri" pitchFamily="34" charset="-122"/>
                <a:cs typeface="Calibri" pitchFamily="34" charset="-120"/>
              </a:rPr>
              <a:t>After the first consultation, the business card is what stays behind on the kitchen table. It needs to feel as considered as the advice that was just given.</a:t>
            </a:r>
            <a:endParaRPr lang="en-US" sz="1350" dirty="0"/>
          </a:p>
        </p:txBody>
      </p:sp>
      <p:sp>
        <p:nvSpPr>
          <p:cNvPr id="5" name="Shape 3"/>
          <p:cNvSpPr/>
          <p:nvPr/>
        </p:nvSpPr>
        <p:spPr>
          <a:xfrm>
            <a:off x="640080" y="5074920"/>
            <a:ext cx="5029200" cy="1417320"/>
          </a:xfrm>
          <a:prstGeom prst="rect">
            <a:avLst/>
          </a:prstGeom>
          <a:solidFill>
            <a:srgbClr val="0D1B3E"/>
          </a:solidFill>
          <a:ln/>
        </p:spPr>
      </p:sp>
      <p:sp>
        <p:nvSpPr>
          <p:cNvPr id="6" name="Text 4"/>
          <p:cNvSpPr/>
          <p:nvPr/>
        </p:nvSpPr>
        <p:spPr>
          <a:xfrm>
            <a:off x="868680" y="5212080"/>
            <a:ext cx="4572000" cy="274320"/>
          </a:xfrm>
          <a:prstGeom prst="rect">
            <a:avLst/>
          </a:prstGeom>
          <a:noFill/>
          <a:ln/>
        </p:spPr>
        <p:txBody>
          <a:bodyPr wrap="square" lIns="0" tIns="0" rIns="0" bIns="0" rtlCol="0" anchor="ctr"/>
          <a:lstStyle/>
          <a:p>
            <a:pPr indent="0" marL="0">
              <a:buNone/>
            </a:pPr>
            <a:r>
              <a:rPr lang="en-US" sz="1000" b="1" spc="200" kern="0" dirty="0">
                <a:solidFill>
                  <a:srgbClr val="C9A84C"/>
                </a:solidFill>
                <a:latin typeface="Calibri" pitchFamily="34" charset="0"/>
                <a:ea typeface="Calibri" pitchFamily="34" charset="-122"/>
                <a:cs typeface="Calibri" pitchFamily="34" charset="-120"/>
              </a:rPr>
              <a:t>WHY THIS WORKS</a:t>
            </a:r>
            <a:endParaRPr lang="en-US" sz="1000" dirty="0"/>
          </a:p>
        </p:txBody>
      </p:sp>
      <p:sp>
        <p:nvSpPr>
          <p:cNvPr id="7" name="Text 5"/>
          <p:cNvSpPr/>
          <p:nvPr/>
        </p:nvSpPr>
        <p:spPr>
          <a:xfrm>
            <a:off x="868680" y="5486400"/>
            <a:ext cx="4572000" cy="914400"/>
          </a:xfrm>
          <a:prstGeom prst="rect">
            <a:avLst/>
          </a:prstGeom>
          <a:noFill/>
          <a:ln/>
        </p:spPr>
        <p:txBody>
          <a:bodyPr wrap="square" lIns="0" tIns="0" rIns="0" bIns="0" rtlCol="0" anchor="ctr"/>
          <a:lstStyle/>
          <a:p>
            <a:pPr indent="0" marL="0">
              <a:lnSpc>
                <a:spcPct val="120000"/>
              </a:lnSpc>
              <a:buNone/>
            </a:pPr>
            <a:r>
              <a:rPr lang="en-US" sz="1200" i="1" dirty="0">
                <a:solidFill>
                  <a:srgbClr val="F8F5EE"/>
                </a:solidFill>
                <a:latin typeface="Cormorant Garamond" pitchFamily="34" charset="0"/>
                <a:ea typeface="Cormorant Garamond" pitchFamily="34" charset="-122"/>
                <a:cs typeface="Cormorant Garamond" pitchFamily="34" charset="-120"/>
              </a:rPr>
              <a:t>Icon mark alone on the front signals confidence; the brand doesn't need to repeat its own name to be recognised. The back carries the full contact block in the same restrained, editorial type system the guidelines specify.</a:t>
            </a:r>
            <a:endParaRPr lang="en-US" sz="1200" dirty="0"/>
          </a:p>
        </p:txBody>
      </p:sp>
      <p:pic>
        <p:nvPicPr>
          <p:cNvPr id="8" name="Image 0" descr="/home/claude/polaris/mockups/business_card.jpg">    </p:cNvPr>
          <p:cNvPicPr>
            <a:picLocks noChangeAspect="1"/>
          </p:cNvPicPr>
          <p:nvPr/>
        </p:nvPicPr>
        <p:blipFill>
          <a:blip r:embed="rId1"/>
          <a:stretch>
            <a:fillRect/>
          </a:stretch>
        </p:blipFill>
        <p:spPr>
          <a:xfrm>
            <a:off x="6172200" y="2026920"/>
            <a:ext cx="5852160" cy="3901440"/>
          </a:xfrm>
          <a:prstGeom prst="rect">
            <a:avLst/>
          </a:prstGeom>
          <a:effectLst>
            <a:outerShdw sx="100000" sy="100000" kx="0" ky="0" algn="bl" rotWithShape="0" blurRad="177800" dist="50800" dir="5400000">
              <a:srgbClr val="000000">
                <a:alpha val="22000"/>
              </a:srgbClr>
            </a:outerShdw>
          </a:effectLst>
        </p:spPr>
      </p:pic>
      <p:sp>
        <p:nvSpPr>
          <p:cNvPr id="9" name="Text 6"/>
          <p:cNvSpPr/>
          <p:nvPr/>
        </p:nvSpPr>
        <p:spPr>
          <a:xfrm>
            <a:off x="11365992" y="6355080"/>
            <a:ext cx="548640" cy="274320"/>
          </a:xfrm>
          <a:prstGeom prst="rect">
            <a:avLst/>
          </a:prstGeom>
          <a:noFill/>
          <a:ln/>
        </p:spPr>
        <p:txBody>
          <a:bodyPr wrap="square" lIns="0" tIns="0" rIns="0" bIns="0" rtlCol="0" anchor="ctr"/>
          <a:lstStyle/>
          <a:p>
            <a:pPr algn="r" indent="0" marL="0">
              <a:buNone/>
            </a:pPr>
            <a:r>
              <a:rPr lang="en-US" sz="1000" dirty="0">
                <a:solidFill>
                  <a:srgbClr val="888880"/>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5EE"/>
        </a:solidFill>
      </p:bgPr>
    </p:bg>
    <p:spTree>
      <p:nvGrpSpPr>
        <p:cNvPr id="1" name=""/>
        <p:cNvGrpSpPr/>
        <p:nvPr/>
      </p:nvGrpSpPr>
      <p:grpSpPr>
        <a:xfrm>
          <a:off x="0" y="0"/>
          <a:ext cx="0" cy="0"/>
          <a:chOff x="0" y="0"/>
          <a:chExt cx="0" cy="0"/>
        </a:xfrm>
      </p:grpSpPr>
      <p:sp>
        <p:nvSpPr>
          <p:cNvPr id="2" name="Text 0"/>
          <p:cNvSpPr/>
          <p:nvPr/>
        </p:nvSpPr>
        <p:spPr>
          <a:xfrm>
            <a:off x="640080" y="411480"/>
            <a:ext cx="5486400" cy="320040"/>
          </a:xfrm>
          <a:prstGeom prst="rect">
            <a:avLst/>
          </a:prstGeom>
          <a:noFill/>
          <a:ln/>
        </p:spPr>
        <p:txBody>
          <a:bodyPr wrap="square" lIns="0" tIns="0" rIns="0" bIns="0" rtlCol="0" anchor="ctr"/>
          <a:lstStyle/>
          <a:p>
            <a:pPr indent="0" marL="0">
              <a:buNone/>
            </a:pPr>
            <a:r>
              <a:rPr lang="en-US" sz="1200" b="1" spc="300" kern="0" dirty="0">
                <a:solidFill>
                  <a:srgbClr val="C9A84C"/>
                </a:solidFill>
                <a:latin typeface="Calibri" pitchFamily="34" charset="0"/>
                <a:ea typeface="Calibri" pitchFamily="34" charset="-122"/>
                <a:cs typeface="Calibri" pitchFamily="34" charset="-120"/>
              </a:rPr>
              <a:t>PRINT - THE QUIET DETAILS</a:t>
            </a:r>
            <a:endParaRPr lang="en-US" sz="1200" dirty="0"/>
          </a:p>
        </p:txBody>
      </p:sp>
      <p:sp>
        <p:nvSpPr>
          <p:cNvPr id="3" name="Text 1"/>
          <p:cNvSpPr/>
          <p:nvPr/>
        </p:nvSpPr>
        <p:spPr>
          <a:xfrm>
            <a:off x="640080" y="749808"/>
            <a:ext cx="10881360" cy="685800"/>
          </a:xfrm>
          <a:prstGeom prst="rect">
            <a:avLst/>
          </a:prstGeom>
          <a:noFill/>
          <a:ln/>
        </p:spPr>
        <p:txBody>
          <a:bodyPr wrap="square" lIns="0" tIns="0" rIns="0" bIns="0" rtlCol="0" anchor="ctr"/>
          <a:lstStyle/>
          <a:p>
            <a:pPr indent="0" marL="0">
              <a:buNone/>
            </a:pPr>
            <a:r>
              <a:rPr lang="en-US" sz="2800" b="1" dirty="0">
                <a:solidFill>
                  <a:srgbClr val="0D1B3E"/>
                </a:solidFill>
                <a:latin typeface="Cormorant Garamond" pitchFamily="34" charset="0"/>
                <a:ea typeface="Cormorant Garamond" pitchFamily="34" charset="-122"/>
                <a:cs typeface="Cormorant Garamond" pitchFamily="34" charset="-120"/>
              </a:rPr>
              <a:t>Stationery Suite</a:t>
            </a:r>
            <a:endParaRPr lang="en-US" sz="2800" dirty="0"/>
          </a:p>
        </p:txBody>
      </p:sp>
      <p:pic>
        <p:nvPicPr>
          <p:cNvPr id="4" name="Image 0" descr="/home/claude/polaris/mockups/stationery.jpg">    </p:cNvPr>
          <p:cNvPicPr>
            <a:picLocks noChangeAspect="1"/>
          </p:cNvPicPr>
          <p:nvPr/>
        </p:nvPicPr>
        <p:blipFill>
          <a:blip r:embed="rId1"/>
          <a:stretch>
            <a:fillRect/>
          </a:stretch>
        </p:blipFill>
        <p:spPr>
          <a:xfrm>
            <a:off x="2048256" y="1417320"/>
            <a:ext cx="8092440" cy="5394960"/>
          </a:xfrm>
          <a:prstGeom prst="rect">
            <a:avLst/>
          </a:prstGeom>
          <a:effectLst>
            <a:outerShdw sx="100000" sy="100000" kx="0" ky="0" algn="bl" rotWithShape="0" blurRad="177800" dist="50800" dir="5400000">
              <a:srgbClr val="000000">
                <a:alpha val="22000"/>
              </a:srgbClr>
            </a:outerShdw>
          </a:effectLst>
        </p:spPr>
      </p:pic>
      <p:sp>
        <p:nvSpPr>
          <p:cNvPr id="5" name="Text 2"/>
          <p:cNvSpPr/>
          <p:nvPr/>
        </p:nvSpPr>
        <p:spPr>
          <a:xfrm>
            <a:off x="11365992" y="6355080"/>
            <a:ext cx="548640" cy="274320"/>
          </a:xfrm>
          <a:prstGeom prst="rect">
            <a:avLst/>
          </a:prstGeom>
          <a:noFill/>
          <a:ln/>
        </p:spPr>
        <p:txBody>
          <a:bodyPr wrap="square" lIns="0" tIns="0" rIns="0" bIns="0" rtlCol="0" anchor="ctr"/>
          <a:lstStyle/>
          <a:p>
            <a:pPr algn="r" indent="0" marL="0">
              <a:buNone/>
            </a:pPr>
            <a:r>
              <a:rPr lang="en-US" sz="1000" dirty="0">
                <a:solidFill>
                  <a:srgbClr val="8888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5EE"/>
        </a:solidFill>
      </p:bgPr>
    </p:bg>
    <p:spTree>
      <p:nvGrpSpPr>
        <p:cNvPr id="1" name=""/>
        <p:cNvGrpSpPr/>
        <p:nvPr/>
      </p:nvGrpSpPr>
      <p:grpSpPr>
        <a:xfrm>
          <a:off x="0" y="0"/>
          <a:ext cx="0" cy="0"/>
          <a:chOff x="0" y="0"/>
          <a:chExt cx="0" cy="0"/>
        </a:xfrm>
      </p:grpSpPr>
      <p:sp>
        <p:nvSpPr>
          <p:cNvPr id="2" name="Text 0"/>
          <p:cNvSpPr/>
          <p:nvPr/>
        </p:nvSpPr>
        <p:spPr>
          <a:xfrm>
            <a:off x="640080" y="411480"/>
            <a:ext cx="5486400" cy="320040"/>
          </a:xfrm>
          <a:prstGeom prst="rect">
            <a:avLst/>
          </a:prstGeom>
          <a:noFill/>
          <a:ln/>
        </p:spPr>
        <p:txBody>
          <a:bodyPr wrap="square" lIns="0" tIns="0" rIns="0" bIns="0" rtlCol="0" anchor="ctr"/>
          <a:lstStyle/>
          <a:p>
            <a:pPr indent="0" marL="0">
              <a:buNone/>
            </a:pPr>
            <a:r>
              <a:rPr lang="en-US" sz="1200" b="1" spc="300" kern="0" dirty="0">
                <a:solidFill>
                  <a:srgbClr val="C9A84C"/>
                </a:solidFill>
                <a:latin typeface="Calibri" pitchFamily="34" charset="0"/>
                <a:ea typeface="Calibri" pitchFamily="34" charset="-122"/>
                <a:cs typeface="Calibri" pitchFamily="34" charset="-120"/>
              </a:rPr>
              <a:t>ENVIRONMENT - PHYSICAL PRESENCE</a:t>
            </a:r>
            <a:endParaRPr lang="en-US" sz="1200" dirty="0"/>
          </a:p>
        </p:txBody>
      </p:sp>
      <p:sp>
        <p:nvSpPr>
          <p:cNvPr id="3" name="Text 1"/>
          <p:cNvSpPr/>
          <p:nvPr/>
        </p:nvSpPr>
        <p:spPr>
          <a:xfrm>
            <a:off x="640080" y="749808"/>
            <a:ext cx="10881360" cy="685800"/>
          </a:xfrm>
          <a:prstGeom prst="rect">
            <a:avLst/>
          </a:prstGeom>
          <a:noFill/>
          <a:ln/>
        </p:spPr>
        <p:txBody>
          <a:bodyPr wrap="square" lIns="0" tIns="0" rIns="0" bIns="0" rtlCol="0" anchor="ctr"/>
          <a:lstStyle/>
          <a:p>
            <a:pPr indent="0" marL="0">
              <a:buNone/>
            </a:pPr>
            <a:r>
              <a:rPr lang="en-US" sz="2800" b="1" dirty="0">
                <a:solidFill>
                  <a:srgbClr val="0D1B3E"/>
                </a:solidFill>
                <a:latin typeface="Cormorant Garamond" pitchFamily="34" charset="0"/>
                <a:ea typeface="Cormorant Garamond" pitchFamily="34" charset="-122"/>
                <a:cs typeface="Cormorant Garamond" pitchFamily="34" charset="-120"/>
              </a:rPr>
              <a:t>Office Signage</a:t>
            </a:r>
            <a:endParaRPr lang="en-US" sz="2800" dirty="0"/>
          </a:p>
        </p:txBody>
      </p:sp>
      <p:pic>
        <p:nvPicPr>
          <p:cNvPr id="4" name="Image 0" descr="/home/claude/polaris/mockups/office_signage.jpg">    </p:cNvPr>
          <p:cNvPicPr>
            <a:picLocks noChangeAspect="1"/>
          </p:cNvPicPr>
          <p:nvPr/>
        </p:nvPicPr>
        <p:blipFill>
          <a:blip r:embed="rId1"/>
          <a:stretch>
            <a:fillRect/>
          </a:stretch>
        </p:blipFill>
        <p:spPr>
          <a:xfrm>
            <a:off x="2048256" y="1417320"/>
            <a:ext cx="8092440" cy="5394960"/>
          </a:xfrm>
          <a:prstGeom prst="rect">
            <a:avLst/>
          </a:prstGeom>
          <a:effectLst>
            <a:outerShdw sx="100000" sy="100000" kx="0" ky="0" algn="bl" rotWithShape="0" blurRad="177800" dist="50800" dir="5400000">
              <a:srgbClr val="000000">
                <a:alpha val="22000"/>
              </a:srgbClr>
            </a:outerShdw>
          </a:effectLst>
        </p:spPr>
      </p:pic>
      <p:sp>
        <p:nvSpPr>
          <p:cNvPr id="5" name="Text 2"/>
          <p:cNvSpPr/>
          <p:nvPr/>
        </p:nvSpPr>
        <p:spPr>
          <a:xfrm>
            <a:off x="11365992" y="6355080"/>
            <a:ext cx="548640" cy="274320"/>
          </a:xfrm>
          <a:prstGeom prst="rect">
            <a:avLst/>
          </a:prstGeom>
          <a:noFill/>
          <a:ln/>
        </p:spPr>
        <p:txBody>
          <a:bodyPr wrap="square" lIns="0" tIns="0" rIns="0" bIns="0" rtlCol="0" anchor="ctr"/>
          <a:lstStyle/>
          <a:p>
            <a:pPr algn="r" indent="0" marL="0">
              <a:buNone/>
            </a:pPr>
            <a:r>
              <a:rPr lang="en-US" sz="1000" dirty="0">
                <a:solidFill>
                  <a:srgbClr val="88888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3E"/>
        </a:solidFill>
      </p:bgPr>
    </p:bg>
    <p:spTree>
      <p:nvGrpSpPr>
        <p:cNvPr id="1" name=""/>
        <p:cNvGrpSpPr/>
        <p:nvPr/>
      </p:nvGrpSpPr>
      <p:grpSpPr>
        <a:xfrm>
          <a:off x="0" y="0"/>
          <a:ext cx="0" cy="0"/>
          <a:chOff x="0" y="0"/>
          <a:chExt cx="0" cy="0"/>
        </a:xfrm>
      </p:grpSpPr>
      <p:pic>
        <p:nvPicPr>
          <p:cNvPr id="2" name="Image 0" descr="/home/claude/polaris/assets/icon_mark_transparent_cropped.png">    </p:cNvPr>
          <p:cNvPicPr>
            <a:picLocks noChangeAspect="1"/>
          </p:cNvPicPr>
          <p:nvPr/>
        </p:nvPicPr>
        <p:blipFill>
          <a:blip r:embed="rId1"/>
          <a:stretch>
            <a:fillRect/>
          </a:stretch>
        </p:blipFill>
        <p:spPr>
          <a:xfrm>
            <a:off x="822960" y="731520"/>
            <a:ext cx="1188720" cy="1352269"/>
          </a:xfrm>
          <a:prstGeom prst="rect">
            <a:avLst/>
          </a:prstGeom>
        </p:spPr>
      </p:pic>
      <p:sp>
        <p:nvSpPr>
          <p:cNvPr id="3" name="Text 0"/>
          <p:cNvSpPr/>
          <p:nvPr/>
        </p:nvSpPr>
        <p:spPr>
          <a:xfrm>
            <a:off x="640080" y="2331720"/>
            <a:ext cx="10881360" cy="731520"/>
          </a:xfrm>
          <a:prstGeom prst="rect">
            <a:avLst/>
          </a:prstGeom>
          <a:noFill/>
          <a:ln/>
        </p:spPr>
        <p:txBody>
          <a:bodyPr wrap="square" lIns="0" tIns="0" rIns="0" bIns="0" rtlCol="0" anchor="ctr"/>
          <a:lstStyle/>
          <a:p>
            <a:pPr indent="0" marL="0">
              <a:buNone/>
            </a:pPr>
            <a:r>
              <a:rPr lang="en-US" sz="3200" b="1" dirty="0">
                <a:solidFill>
                  <a:srgbClr val="F8F5EE"/>
                </a:solidFill>
                <a:latin typeface="Cormorant Garamond" pitchFamily="34" charset="0"/>
                <a:ea typeface="Cormorant Garamond" pitchFamily="34" charset="-122"/>
                <a:cs typeface="Cormorant Garamond" pitchFamily="34" charset="-120"/>
              </a:rPr>
              <a:t>Next Steps</a:t>
            </a:r>
            <a:endParaRPr lang="en-US" sz="3200" dirty="0"/>
          </a:p>
        </p:txBody>
      </p:sp>
      <p:sp>
        <p:nvSpPr>
          <p:cNvPr id="4" name="Shape 1"/>
          <p:cNvSpPr/>
          <p:nvPr/>
        </p:nvSpPr>
        <p:spPr>
          <a:xfrm>
            <a:off x="640080" y="3383280"/>
            <a:ext cx="365760" cy="365760"/>
          </a:xfrm>
          <a:prstGeom prst="ellipse">
            <a:avLst/>
          </a:prstGeom>
          <a:solidFill>
            <a:srgbClr val="C9A84C"/>
          </a:solidFill>
          <a:ln/>
        </p:spPr>
      </p:sp>
      <p:sp>
        <p:nvSpPr>
          <p:cNvPr id="5" name="Text 2"/>
          <p:cNvSpPr/>
          <p:nvPr/>
        </p:nvSpPr>
        <p:spPr>
          <a:xfrm>
            <a:off x="640080" y="3383280"/>
            <a:ext cx="365760" cy="365760"/>
          </a:xfrm>
          <a:prstGeom prst="rect">
            <a:avLst/>
          </a:prstGeom>
          <a:noFill/>
          <a:ln/>
        </p:spPr>
        <p:txBody>
          <a:bodyPr wrap="square" lIns="0" tIns="0" rIns="0" bIns="0" rtlCol="0" anchor="ctr"/>
          <a:lstStyle/>
          <a:p>
            <a:pPr algn="ctr" indent="0" marL="0">
              <a:buNone/>
            </a:pPr>
            <a:r>
              <a:rPr lang="en-US" sz="1400" b="1" dirty="0">
                <a:solidFill>
                  <a:srgbClr val="0D1B3E"/>
                </a:solidFill>
                <a:latin typeface="Calibri" pitchFamily="34" charset="0"/>
                <a:ea typeface="Calibri" pitchFamily="34" charset="-122"/>
                <a:cs typeface="Calibri" pitchFamily="34" charset="-120"/>
              </a:rPr>
              <a:t>1</a:t>
            </a:r>
            <a:endParaRPr lang="en-US" sz="1400" dirty="0"/>
          </a:p>
        </p:txBody>
      </p:sp>
      <p:sp>
        <p:nvSpPr>
          <p:cNvPr id="6" name="Text 3"/>
          <p:cNvSpPr/>
          <p:nvPr/>
        </p:nvSpPr>
        <p:spPr>
          <a:xfrm>
            <a:off x="1143000" y="3410712"/>
            <a:ext cx="8229600" cy="365760"/>
          </a:xfrm>
          <a:prstGeom prst="rect">
            <a:avLst/>
          </a:prstGeom>
          <a:noFill/>
          <a:ln/>
        </p:spPr>
        <p:txBody>
          <a:bodyPr wrap="square" lIns="0" tIns="0" rIns="0" bIns="0" rtlCol="0" anchor="ctr"/>
          <a:lstStyle/>
          <a:p>
            <a:pPr indent="0" marL="0">
              <a:buNone/>
            </a:pPr>
            <a:r>
              <a:rPr lang="en-US" sz="1500" dirty="0">
                <a:solidFill>
                  <a:srgbClr val="F8F5EE"/>
                </a:solidFill>
                <a:latin typeface="Calibri" pitchFamily="34" charset="0"/>
                <a:ea typeface="Calibri" pitchFamily="34" charset="-122"/>
                <a:cs typeface="Calibri" pitchFamily="34" charset="-120"/>
              </a:rPr>
              <a:t>Receive approval / feedback on direction</a:t>
            </a:r>
            <a:endParaRPr lang="en-US" sz="1500" dirty="0"/>
          </a:p>
        </p:txBody>
      </p:sp>
      <p:sp>
        <p:nvSpPr>
          <p:cNvPr id="7" name="Shape 4"/>
          <p:cNvSpPr/>
          <p:nvPr/>
        </p:nvSpPr>
        <p:spPr>
          <a:xfrm>
            <a:off x="640080" y="4069080"/>
            <a:ext cx="365760" cy="365760"/>
          </a:xfrm>
          <a:prstGeom prst="ellipse">
            <a:avLst/>
          </a:prstGeom>
          <a:solidFill>
            <a:srgbClr val="C9A84C"/>
          </a:solidFill>
          <a:ln/>
        </p:spPr>
      </p:sp>
      <p:sp>
        <p:nvSpPr>
          <p:cNvPr id="8" name="Text 5"/>
          <p:cNvSpPr/>
          <p:nvPr/>
        </p:nvSpPr>
        <p:spPr>
          <a:xfrm>
            <a:off x="640080" y="4069080"/>
            <a:ext cx="365760" cy="365760"/>
          </a:xfrm>
          <a:prstGeom prst="rect">
            <a:avLst/>
          </a:prstGeom>
          <a:noFill/>
          <a:ln/>
        </p:spPr>
        <p:txBody>
          <a:bodyPr wrap="square" lIns="0" tIns="0" rIns="0" bIns="0" rtlCol="0" anchor="ctr"/>
          <a:lstStyle/>
          <a:p>
            <a:pPr algn="ctr" indent="0" marL="0">
              <a:buNone/>
            </a:pPr>
            <a:r>
              <a:rPr lang="en-US" sz="1400" b="1" dirty="0">
                <a:solidFill>
                  <a:srgbClr val="0D1B3E"/>
                </a:solidFill>
                <a:latin typeface="Calibri" pitchFamily="34" charset="0"/>
                <a:ea typeface="Calibri" pitchFamily="34" charset="-122"/>
                <a:cs typeface="Calibri" pitchFamily="34" charset="-120"/>
              </a:rPr>
              <a:t>2</a:t>
            </a:r>
            <a:endParaRPr lang="en-US" sz="1400" dirty="0"/>
          </a:p>
        </p:txBody>
      </p:sp>
      <p:sp>
        <p:nvSpPr>
          <p:cNvPr id="9" name="Text 6"/>
          <p:cNvSpPr/>
          <p:nvPr/>
        </p:nvSpPr>
        <p:spPr>
          <a:xfrm>
            <a:off x="1143000" y="4096512"/>
            <a:ext cx="8229600" cy="365760"/>
          </a:xfrm>
          <a:prstGeom prst="rect">
            <a:avLst/>
          </a:prstGeom>
          <a:noFill/>
          <a:ln/>
        </p:spPr>
        <p:txBody>
          <a:bodyPr wrap="square" lIns="0" tIns="0" rIns="0" bIns="0" rtlCol="0" anchor="ctr"/>
          <a:lstStyle/>
          <a:p>
            <a:pPr indent="0" marL="0">
              <a:buNone/>
            </a:pPr>
            <a:r>
              <a:rPr lang="en-US" sz="1500" dirty="0">
                <a:solidFill>
                  <a:srgbClr val="F8F5EE"/>
                </a:solidFill>
                <a:latin typeface="Calibri" pitchFamily="34" charset="0"/>
                <a:ea typeface="Calibri" pitchFamily="34" charset="-122"/>
                <a:cs typeface="Calibri" pitchFamily="34" charset="-120"/>
              </a:rPr>
              <a:t>Receive balance of Ksh. 10,000</a:t>
            </a:r>
            <a:endParaRPr lang="en-US" sz="1500" dirty="0"/>
          </a:p>
        </p:txBody>
      </p:sp>
      <p:sp>
        <p:nvSpPr>
          <p:cNvPr id="10" name="Shape 7"/>
          <p:cNvSpPr/>
          <p:nvPr/>
        </p:nvSpPr>
        <p:spPr>
          <a:xfrm>
            <a:off x="640080" y="4754880"/>
            <a:ext cx="365760" cy="365760"/>
          </a:xfrm>
          <a:prstGeom prst="ellipse">
            <a:avLst/>
          </a:prstGeom>
          <a:solidFill>
            <a:srgbClr val="C9A84C"/>
          </a:solidFill>
          <a:ln/>
        </p:spPr>
      </p:sp>
      <p:sp>
        <p:nvSpPr>
          <p:cNvPr id="11" name="Text 8"/>
          <p:cNvSpPr/>
          <p:nvPr/>
        </p:nvSpPr>
        <p:spPr>
          <a:xfrm>
            <a:off x="640080" y="4754880"/>
            <a:ext cx="365760" cy="365760"/>
          </a:xfrm>
          <a:prstGeom prst="rect">
            <a:avLst/>
          </a:prstGeom>
          <a:noFill/>
          <a:ln/>
        </p:spPr>
        <p:txBody>
          <a:bodyPr wrap="square" lIns="0" tIns="0" rIns="0" bIns="0" rtlCol="0" anchor="ctr"/>
          <a:lstStyle/>
          <a:p>
            <a:pPr algn="ctr" indent="0" marL="0">
              <a:buNone/>
            </a:pPr>
            <a:r>
              <a:rPr lang="en-US" sz="1400" b="1" dirty="0">
                <a:solidFill>
                  <a:srgbClr val="0D1B3E"/>
                </a:solidFill>
                <a:latin typeface="Calibri" pitchFamily="34" charset="0"/>
                <a:ea typeface="Calibri" pitchFamily="34" charset="-122"/>
                <a:cs typeface="Calibri" pitchFamily="34" charset="-120"/>
              </a:rPr>
              <a:t>3</a:t>
            </a:r>
            <a:endParaRPr lang="en-US" sz="1400" dirty="0"/>
          </a:p>
        </p:txBody>
      </p:sp>
      <p:sp>
        <p:nvSpPr>
          <p:cNvPr id="12" name="Text 9"/>
          <p:cNvSpPr/>
          <p:nvPr/>
        </p:nvSpPr>
        <p:spPr>
          <a:xfrm>
            <a:off x="1143000" y="4782312"/>
            <a:ext cx="8229600" cy="365760"/>
          </a:xfrm>
          <a:prstGeom prst="rect">
            <a:avLst/>
          </a:prstGeom>
          <a:noFill/>
          <a:ln/>
        </p:spPr>
        <p:txBody>
          <a:bodyPr wrap="square" lIns="0" tIns="0" rIns="0" bIns="0" rtlCol="0" anchor="ctr"/>
          <a:lstStyle/>
          <a:p>
            <a:pPr indent="0" marL="0">
              <a:buNone/>
            </a:pPr>
            <a:r>
              <a:rPr lang="en-US" sz="1500" dirty="0">
                <a:solidFill>
                  <a:srgbClr val="F8F5EE"/>
                </a:solidFill>
                <a:latin typeface="Calibri" pitchFamily="34" charset="0"/>
                <a:ea typeface="Calibri" pitchFamily="34" charset="-122"/>
                <a:cs typeface="Calibri" pitchFamily="34" charset="-120"/>
              </a:rPr>
              <a:t>Make edits and prepare logo for delivery</a:t>
            </a:r>
            <a:endParaRPr lang="en-US" sz="1500" dirty="0"/>
          </a:p>
        </p:txBody>
      </p:sp>
      <p:sp>
        <p:nvSpPr>
          <p:cNvPr id="13" name="Text 10"/>
          <p:cNvSpPr/>
          <p:nvPr/>
        </p:nvSpPr>
        <p:spPr>
          <a:xfrm>
            <a:off x="640080" y="6263640"/>
            <a:ext cx="7315200" cy="365760"/>
          </a:xfrm>
          <a:prstGeom prst="rect">
            <a:avLst/>
          </a:prstGeom>
          <a:noFill/>
          <a:ln/>
        </p:spPr>
        <p:txBody>
          <a:bodyPr wrap="square" lIns="0" tIns="0" rIns="0" bIns="0" rtlCol="0" anchor="ctr"/>
          <a:lstStyle/>
          <a:p>
            <a:pPr indent="0" marL="0">
              <a:buNone/>
            </a:pPr>
            <a:r>
              <a:rPr lang="en-US" sz="1400" i="1" dirty="0">
                <a:solidFill>
                  <a:srgbClr val="C9A84C"/>
                </a:solidFill>
                <a:latin typeface="Cormorant Garamond" pitchFamily="34" charset="0"/>
                <a:ea typeface="Cormorant Garamond" pitchFamily="34" charset="-122"/>
                <a:cs typeface="Cormorant Garamond" pitchFamily="34" charset="-120"/>
              </a:rPr>
              <a:t>Discover the world.</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Polaris Academic Agents — Visual Identity Presentation</dc:title>
  <dc:subject>PptxGenJS Presentation</dc:subject>
  <dc:creator>Polaris Brand Strategy</dc:creator>
  <cp:lastModifiedBy>Polaris Brand Strategy</cp:lastModifiedBy>
  <cp:revision>1</cp:revision>
  <dcterms:created xsi:type="dcterms:W3CDTF">2026-06-21T10:18:04Z</dcterms:created>
  <dcterms:modified xsi:type="dcterms:W3CDTF">2026-06-21T10:18:04Z</dcterms:modified>
</cp:coreProperties>
</file>